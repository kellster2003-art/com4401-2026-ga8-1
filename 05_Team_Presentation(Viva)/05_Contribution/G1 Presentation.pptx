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0" r:id="rId1"/>
  </p:sldMasterIdLst>
  <p:sldIdLst>
    <p:sldId id="256" r:id="rId2"/>
    <p:sldId id="257" r:id="rId3"/>
    <p:sldId id="258" r:id="rId4"/>
    <p:sldId id="260" r:id="rId5"/>
    <p:sldId id="273" r:id="rId6"/>
    <p:sldId id="272" r:id="rId7"/>
    <p:sldId id="274" r:id="rId8"/>
    <p:sldId id="276" r:id="rId9"/>
    <p:sldId id="277" r:id="rId10"/>
    <p:sldId id="275" r:id="rId11"/>
    <p:sldId id="269" r:id="rId12"/>
    <p:sldId id="259" r:id="rId13"/>
    <p:sldId id="267" r:id="rId14"/>
    <p:sldId id="270" r:id="rId15"/>
    <p:sldId id="268" r:id="rId16"/>
    <p:sldId id="278" r:id="rId17"/>
    <p:sldId id="261" r:id="rId18"/>
    <p:sldId id="266" r:id="rId19"/>
    <p:sldId id="265" r:id="rId20"/>
    <p:sldId id="271" r:id="rId21"/>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D9559C-E1D0-E6DB-5060-5369A1E98396}" v="419" dt="2026-10-23T08:40:11.781"/>
    <p1510:client id="{131BDDCF-71AB-44C9-B35D-7DA401AA8267}" v="365" dt="2026-10-23T08:24:18.468"/>
    <p1510:client id="{E22B56F1-BD6B-25E0-7833-F290AF2D48D0}" v="19" dt="2026-10-23T17:28:03.285"/>
    <p1510:client id="{E26A01B1-948C-3E6E-1B80-505B6AD55966}" v="477" dt="2026-10-23T22:51:22.167"/>
    <p1510:client id="{E89021E6-508E-47B7-4ED8-9DBA35260BC1}" v="1023" dt="2026-10-23T19:01:00.338"/>
    <p1510:client id="{F8D8FB00-262B-AB38-012C-7DC24891C52B}" v="202" dt="2026-10-23T08:34:09.5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533"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FE13A7A-37DB-4D23-BFC8-C52E2F3724F0}" type="doc">
      <dgm:prSet loTypeId="urn:microsoft.com/office/officeart/2018/5/layout/IconCircleLabelList" loCatId="icon" qsTypeId="urn:microsoft.com/office/officeart/2005/8/quickstyle/simple1" qsCatId="simple" csTypeId="urn:microsoft.com/office/officeart/2018/5/colors/Iconchunking_neutralbg_accent3_2" csCatId="accent3" phldr="1"/>
      <dgm:spPr/>
      <dgm:t>
        <a:bodyPr/>
        <a:lstStyle/>
        <a:p>
          <a:endParaRPr lang="en-US"/>
        </a:p>
      </dgm:t>
    </dgm:pt>
    <dgm:pt modelId="{AB2708FF-59CA-4D43-B6EE-DB6A811CA708}">
      <dgm:prSet/>
      <dgm:spPr/>
      <dgm:t>
        <a:bodyPr/>
        <a:lstStyle/>
        <a:p>
          <a:pPr>
            <a:lnSpc>
              <a:spcPct val="100000"/>
            </a:lnSpc>
            <a:defRPr cap="all"/>
          </a:pPr>
          <a:r>
            <a:rPr lang="en-GB"/>
            <a:t>We had to create a working network for Northwest Architecture Studio</a:t>
          </a:r>
          <a:endParaRPr lang="en-US"/>
        </a:p>
      </dgm:t>
    </dgm:pt>
    <dgm:pt modelId="{2D00A17A-D7ED-45DB-8F38-C48889E0D28F}" type="parTrans" cxnId="{BE2E0EC9-DD1A-46F6-B95B-2B97B67567FB}">
      <dgm:prSet/>
      <dgm:spPr/>
      <dgm:t>
        <a:bodyPr/>
        <a:lstStyle/>
        <a:p>
          <a:endParaRPr lang="en-US"/>
        </a:p>
      </dgm:t>
    </dgm:pt>
    <dgm:pt modelId="{9FFAB04C-72B7-4076-AD07-3706C05BAEBC}" type="sibTrans" cxnId="{BE2E0EC9-DD1A-46F6-B95B-2B97B67567FB}">
      <dgm:prSet/>
      <dgm:spPr/>
      <dgm:t>
        <a:bodyPr/>
        <a:lstStyle/>
        <a:p>
          <a:pPr>
            <a:lnSpc>
              <a:spcPct val="100000"/>
            </a:lnSpc>
          </a:pPr>
          <a:endParaRPr lang="en-US"/>
        </a:p>
      </dgm:t>
    </dgm:pt>
    <dgm:pt modelId="{439A174C-7F0F-4B5F-98A9-392BD9903857}">
      <dgm:prSet/>
      <dgm:spPr/>
      <dgm:t>
        <a:bodyPr/>
        <a:lstStyle/>
        <a:p>
          <a:pPr>
            <a:lnSpc>
              <a:spcPct val="100000"/>
            </a:lnSpc>
            <a:defRPr cap="all"/>
          </a:pPr>
          <a:r>
            <a:rPr lang="en-GB"/>
            <a:t>Connect the office LAN to a cloud network.</a:t>
          </a:r>
          <a:endParaRPr lang="en-US"/>
        </a:p>
      </dgm:t>
    </dgm:pt>
    <dgm:pt modelId="{7D13CBFB-7C36-4FC5-839D-4A2D8B5D17D5}" type="parTrans" cxnId="{C490A05C-D294-4C4F-B596-D9170F78352A}">
      <dgm:prSet/>
      <dgm:spPr/>
      <dgm:t>
        <a:bodyPr/>
        <a:lstStyle/>
        <a:p>
          <a:endParaRPr lang="en-US"/>
        </a:p>
      </dgm:t>
    </dgm:pt>
    <dgm:pt modelId="{B2F679BA-9FC8-4A3A-B6BF-A59BABAB3C9B}" type="sibTrans" cxnId="{C490A05C-D294-4C4F-B596-D9170F78352A}">
      <dgm:prSet/>
      <dgm:spPr/>
      <dgm:t>
        <a:bodyPr/>
        <a:lstStyle/>
        <a:p>
          <a:pPr>
            <a:lnSpc>
              <a:spcPct val="100000"/>
            </a:lnSpc>
          </a:pPr>
          <a:endParaRPr lang="en-US"/>
        </a:p>
      </dgm:t>
    </dgm:pt>
    <dgm:pt modelId="{B676CF1E-7834-44C1-9F30-FC3B9099B15A}">
      <dgm:prSet/>
      <dgm:spPr/>
      <dgm:t>
        <a:bodyPr/>
        <a:lstStyle/>
        <a:p>
          <a:pPr>
            <a:lnSpc>
              <a:spcPct val="100000"/>
            </a:lnSpc>
            <a:defRPr cap="all"/>
          </a:pPr>
          <a:r>
            <a:rPr lang="en-GB"/>
            <a:t>Configure the IP addresses</a:t>
          </a:r>
          <a:endParaRPr lang="en-US"/>
        </a:p>
      </dgm:t>
    </dgm:pt>
    <dgm:pt modelId="{EA205075-E929-49A7-9CF5-4EBDB10E3299}" type="parTrans" cxnId="{831E20FA-5C96-4E05-BADC-5C51884C10DC}">
      <dgm:prSet/>
      <dgm:spPr/>
      <dgm:t>
        <a:bodyPr/>
        <a:lstStyle/>
        <a:p>
          <a:endParaRPr lang="en-US"/>
        </a:p>
      </dgm:t>
    </dgm:pt>
    <dgm:pt modelId="{290AA9DB-5E86-4E4E-AE03-36C120843428}" type="sibTrans" cxnId="{831E20FA-5C96-4E05-BADC-5C51884C10DC}">
      <dgm:prSet/>
      <dgm:spPr/>
      <dgm:t>
        <a:bodyPr/>
        <a:lstStyle/>
        <a:p>
          <a:endParaRPr lang="en-US"/>
        </a:p>
      </dgm:t>
    </dgm:pt>
    <dgm:pt modelId="{F2422ED4-57B0-4AA1-B0A2-D71CFCF55A1A}" type="pres">
      <dgm:prSet presAssocID="{6FE13A7A-37DB-4D23-BFC8-C52E2F3724F0}" presName="root" presStyleCnt="0">
        <dgm:presLayoutVars>
          <dgm:dir/>
          <dgm:resizeHandles val="exact"/>
        </dgm:presLayoutVars>
      </dgm:prSet>
      <dgm:spPr/>
    </dgm:pt>
    <dgm:pt modelId="{51C60681-2A31-4361-864A-1A75202B1F95}" type="pres">
      <dgm:prSet presAssocID="{AB2708FF-59CA-4D43-B6EE-DB6A811CA708}" presName="compNode" presStyleCnt="0"/>
      <dgm:spPr/>
    </dgm:pt>
    <dgm:pt modelId="{C1D8B35D-9D64-4805-9F58-ABEDBB68A15D}" type="pres">
      <dgm:prSet presAssocID="{AB2708FF-59CA-4D43-B6EE-DB6A811CA708}" presName="iconBgRect" presStyleLbl="bgShp" presStyleIdx="0" presStyleCnt="3"/>
      <dgm:spPr/>
    </dgm:pt>
    <dgm:pt modelId="{B716215D-4B21-48E0-B94D-1ADBD5A8D52B}" type="pres">
      <dgm:prSet presAssocID="{AB2708FF-59CA-4D43-B6EE-DB6A811CA708}"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ity"/>
        </a:ext>
      </dgm:extLst>
    </dgm:pt>
    <dgm:pt modelId="{0B184768-F095-4551-A2D8-E5AEF954653F}" type="pres">
      <dgm:prSet presAssocID="{AB2708FF-59CA-4D43-B6EE-DB6A811CA708}" presName="spaceRect" presStyleCnt="0"/>
      <dgm:spPr/>
    </dgm:pt>
    <dgm:pt modelId="{26F4B06E-B9C4-40EB-90A3-569FF777D2D3}" type="pres">
      <dgm:prSet presAssocID="{AB2708FF-59CA-4D43-B6EE-DB6A811CA708}" presName="textRect" presStyleLbl="revTx" presStyleIdx="0" presStyleCnt="3">
        <dgm:presLayoutVars>
          <dgm:chMax val="1"/>
          <dgm:chPref val="1"/>
        </dgm:presLayoutVars>
      </dgm:prSet>
      <dgm:spPr/>
    </dgm:pt>
    <dgm:pt modelId="{E6895862-3F85-4EEC-AB7C-1299781EAFAF}" type="pres">
      <dgm:prSet presAssocID="{9FFAB04C-72B7-4076-AD07-3706C05BAEBC}" presName="sibTrans" presStyleCnt="0"/>
      <dgm:spPr/>
    </dgm:pt>
    <dgm:pt modelId="{8D096ED1-883A-4DC3-8844-FA211B593AB6}" type="pres">
      <dgm:prSet presAssocID="{439A174C-7F0F-4B5F-98A9-392BD9903857}" presName="compNode" presStyleCnt="0"/>
      <dgm:spPr/>
    </dgm:pt>
    <dgm:pt modelId="{1F210C88-B50C-49FB-8489-A097CD55C256}" type="pres">
      <dgm:prSet presAssocID="{439A174C-7F0F-4B5F-98A9-392BD9903857}" presName="iconBgRect" presStyleLbl="bgShp" presStyleIdx="1" presStyleCnt="3"/>
      <dgm:spPr/>
    </dgm:pt>
    <dgm:pt modelId="{7062EA33-789A-4826-85C4-75EA3F0C8CCA}" type="pres">
      <dgm:prSet presAssocID="{439A174C-7F0F-4B5F-98A9-392BD9903857}"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6B3D6785-331C-4EF2-8E10-33DC894AB1B3}" type="pres">
      <dgm:prSet presAssocID="{439A174C-7F0F-4B5F-98A9-392BD9903857}" presName="spaceRect" presStyleCnt="0"/>
      <dgm:spPr/>
    </dgm:pt>
    <dgm:pt modelId="{2EE4E2C1-8668-4E6D-89FD-F9D5581C9327}" type="pres">
      <dgm:prSet presAssocID="{439A174C-7F0F-4B5F-98A9-392BD9903857}" presName="textRect" presStyleLbl="revTx" presStyleIdx="1" presStyleCnt="3">
        <dgm:presLayoutVars>
          <dgm:chMax val="1"/>
          <dgm:chPref val="1"/>
        </dgm:presLayoutVars>
      </dgm:prSet>
      <dgm:spPr/>
    </dgm:pt>
    <dgm:pt modelId="{D79E354F-55EA-41B2-B76D-3A6244E1B25F}" type="pres">
      <dgm:prSet presAssocID="{B2F679BA-9FC8-4A3A-B6BF-A59BABAB3C9B}" presName="sibTrans" presStyleCnt="0"/>
      <dgm:spPr/>
    </dgm:pt>
    <dgm:pt modelId="{8692252B-15E7-40DE-A23F-ED1D757B0B9C}" type="pres">
      <dgm:prSet presAssocID="{B676CF1E-7834-44C1-9F30-FC3B9099B15A}" presName="compNode" presStyleCnt="0"/>
      <dgm:spPr/>
    </dgm:pt>
    <dgm:pt modelId="{A68C9227-7EBF-4B9F-9F6E-C27D41B8F3C7}" type="pres">
      <dgm:prSet presAssocID="{B676CF1E-7834-44C1-9F30-FC3B9099B15A}" presName="iconBgRect" presStyleLbl="bgShp" presStyleIdx="2" presStyleCnt="3"/>
      <dgm:spPr/>
    </dgm:pt>
    <dgm:pt modelId="{11D9B5FF-5F3A-4BAF-A2C0-AE4BFB1AFA7B}" type="pres">
      <dgm:prSet presAssocID="{B676CF1E-7834-44C1-9F30-FC3B9099B15A}"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omputer"/>
        </a:ext>
      </dgm:extLst>
    </dgm:pt>
    <dgm:pt modelId="{AD3BE7D9-1CBA-4CE5-BF3E-1EDA3C312F48}" type="pres">
      <dgm:prSet presAssocID="{B676CF1E-7834-44C1-9F30-FC3B9099B15A}" presName="spaceRect" presStyleCnt="0"/>
      <dgm:spPr/>
    </dgm:pt>
    <dgm:pt modelId="{A3F412B9-377F-48A7-A3BE-8D93AE6D326A}" type="pres">
      <dgm:prSet presAssocID="{B676CF1E-7834-44C1-9F30-FC3B9099B15A}" presName="textRect" presStyleLbl="revTx" presStyleIdx="2" presStyleCnt="3">
        <dgm:presLayoutVars>
          <dgm:chMax val="1"/>
          <dgm:chPref val="1"/>
        </dgm:presLayoutVars>
      </dgm:prSet>
      <dgm:spPr/>
    </dgm:pt>
  </dgm:ptLst>
  <dgm:cxnLst>
    <dgm:cxn modelId="{C490A05C-D294-4C4F-B596-D9170F78352A}" srcId="{6FE13A7A-37DB-4D23-BFC8-C52E2F3724F0}" destId="{439A174C-7F0F-4B5F-98A9-392BD9903857}" srcOrd="1" destOrd="0" parTransId="{7D13CBFB-7C36-4FC5-839D-4A2D8B5D17D5}" sibTransId="{B2F679BA-9FC8-4A3A-B6BF-A59BABAB3C9B}"/>
    <dgm:cxn modelId="{0DB8B878-A4A1-418D-B6CE-E185A8F7B5CE}" type="presOf" srcId="{6FE13A7A-37DB-4D23-BFC8-C52E2F3724F0}" destId="{F2422ED4-57B0-4AA1-B0A2-D71CFCF55A1A}" srcOrd="0" destOrd="0" presId="urn:microsoft.com/office/officeart/2018/5/layout/IconCircleLabelList"/>
    <dgm:cxn modelId="{100272AA-4095-41A4-B601-5858CD26E5A7}" type="presOf" srcId="{B676CF1E-7834-44C1-9F30-FC3B9099B15A}" destId="{A3F412B9-377F-48A7-A3BE-8D93AE6D326A}" srcOrd="0" destOrd="0" presId="urn:microsoft.com/office/officeart/2018/5/layout/IconCircleLabelList"/>
    <dgm:cxn modelId="{06BAB1BB-1FAA-4362-ACA3-2AAB992C91F7}" type="presOf" srcId="{AB2708FF-59CA-4D43-B6EE-DB6A811CA708}" destId="{26F4B06E-B9C4-40EB-90A3-569FF777D2D3}" srcOrd="0" destOrd="0" presId="urn:microsoft.com/office/officeart/2018/5/layout/IconCircleLabelList"/>
    <dgm:cxn modelId="{BE2E0EC9-DD1A-46F6-B95B-2B97B67567FB}" srcId="{6FE13A7A-37DB-4D23-BFC8-C52E2F3724F0}" destId="{AB2708FF-59CA-4D43-B6EE-DB6A811CA708}" srcOrd="0" destOrd="0" parTransId="{2D00A17A-D7ED-45DB-8F38-C48889E0D28F}" sibTransId="{9FFAB04C-72B7-4076-AD07-3706C05BAEBC}"/>
    <dgm:cxn modelId="{EB89EAE9-8422-47C1-AE95-A53CAA7595BD}" type="presOf" srcId="{439A174C-7F0F-4B5F-98A9-392BD9903857}" destId="{2EE4E2C1-8668-4E6D-89FD-F9D5581C9327}" srcOrd="0" destOrd="0" presId="urn:microsoft.com/office/officeart/2018/5/layout/IconCircleLabelList"/>
    <dgm:cxn modelId="{831E20FA-5C96-4E05-BADC-5C51884C10DC}" srcId="{6FE13A7A-37DB-4D23-BFC8-C52E2F3724F0}" destId="{B676CF1E-7834-44C1-9F30-FC3B9099B15A}" srcOrd="2" destOrd="0" parTransId="{EA205075-E929-49A7-9CF5-4EBDB10E3299}" sibTransId="{290AA9DB-5E86-4E4E-AE03-36C120843428}"/>
    <dgm:cxn modelId="{D47FB2D1-2587-41E1-A9F8-B577330AB4BE}" type="presParOf" srcId="{F2422ED4-57B0-4AA1-B0A2-D71CFCF55A1A}" destId="{51C60681-2A31-4361-864A-1A75202B1F95}" srcOrd="0" destOrd="0" presId="urn:microsoft.com/office/officeart/2018/5/layout/IconCircleLabelList"/>
    <dgm:cxn modelId="{0097F517-688D-403D-9369-DB5D930F7991}" type="presParOf" srcId="{51C60681-2A31-4361-864A-1A75202B1F95}" destId="{C1D8B35D-9D64-4805-9F58-ABEDBB68A15D}" srcOrd="0" destOrd="0" presId="urn:microsoft.com/office/officeart/2018/5/layout/IconCircleLabelList"/>
    <dgm:cxn modelId="{E9553EA6-8CEC-4542-806A-10962B30F0AC}" type="presParOf" srcId="{51C60681-2A31-4361-864A-1A75202B1F95}" destId="{B716215D-4B21-48E0-B94D-1ADBD5A8D52B}" srcOrd="1" destOrd="0" presId="urn:microsoft.com/office/officeart/2018/5/layout/IconCircleLabelList"/>
    <dgm:cxn modelId="{DA996118-AD15-4B76-ACDC-252E095BE444}" type="presParOf" srcId="{51C60681-2A31-4361-864A-1A75202B1F95}" destId="{0B184768-F095-4551-A2D8-E5AEF954653F}" srcOrd="2" destOrd="0" presId="urn:microsoft.com/office/officeart/2018/5/layout/IconCircleLabelList"/>
    <dgm:cxn modelId="{F2AFB23A-2814-48FD-A82D-144D6B486AA5}" type="presParOf" srcId="{51C60681-2A31-4361-864A-1A75202B1F95}" destId="{26F4B06E-B9C4-40EB-90A3-569FF777D2D3}" srcOrd="3" destOrd="0" presId="urn:microsoft.com/office/officeart/2018/5/layout/IconCircleLabelList"/>
    <dgm:cxn modelId="{3C2DBB8E-F659-4C14-BE57-5DCDBAE4438D}" type="presParOf" srcId="{F2422ED4-57B0-4AA1-B0A2-D71CFCF55A1A}" destId="{E6895862-3F85-4EEC-AB7C-1299781EAFAF}" srcOrd="1" destOrd="0" presId="urn:microsoft.com/office/officeart/2018/5/layout/IconCircleLabelList"/>
    <dgm:cxn modelId="{6D73C7C4-1728-42DF-8814-5B781ABBEFFC}" type="presParOf" srcId="{F2422ED4-57B0-4AA1-B0A2-D71CFCF55A1A}" destId="{8D096ED1-883A-4DC3-8844-FA211B593AB6}" srcOrd="2" destOrd="0" presId="urn:microsoft.com/office/officeart/2018/5/layout/IconCircleLabelList"/>
    <dgm:cxn modelId="{74CC6D4D-0469-40E8-A2EE-22A685A02896}" type="presParOf" srcId="{8D096ED1-883A-4DC3-8844-FA211B593AB6}" destId="{1F210C88-B50C-49FB-8489-A097CD55C256}" srcOrd="0" destOrd="0" presId="urn:microsoft.com/office/officeart/2018/5/layout/IconCircleLabelList"/>
    <dgm:cxn modelId="{FF6DCE21-E6BF-4153-9DB4-0ECC5C4326B4}" type="presParOf" srcId="{8D096ED1-883A-4DC3-8844-FA211B593AB6}" destId="{7062EA33-789A-4826-85C4-75EA3F0C8CCA}" srcOrd="1" destOrd="0" presId="urn:microsoft.com/office/officeart/2018/5/layout/IconCircleLabelList"/>
    <dgm:cxn modelId="{AAA847AE-1B08-4082-8198-BC394C6A1AEE}" type="presParOf" srcId="{8D096ED1-883A-4DC3-8844-FA211B593AB6}" destId="{6B3D6785-331C-4EF2-8E10-33DC894AB1B3}" srcOrd="2" destOrd="0" presId="urn:microsoft.com/office/officeart/2018/5/layout/IconCircleLabelList"/>
    <dgm:cxn modelId="{038666DF-5F47-4BDF-9F36-0CD3E3A7D813}" type="presParOf" srcId="{8D096ED1-883A-4DC3-8844-FA211B593AB6}" destId="{2EE4E2C1-8668-4E6D-89FD-F9D5581C9327}" srcOrd="3" destOrd="0" presId="urn:microsoft.com/office/officeart/2018/5/layout/IconCircleLabelList"/>
    <dgm:cxn modelId="{397495E2-9298-4E3B-9F17-2E7F588CA5FC}" type="presParOf" srcId="{F2422ED4-57B0-4AA1-B0A2-D71CFCF55A1A}" destId="{D79E354F-55EA-41B2-B76D-3A6244E1B25F}" srcOrd="3" destOrd="0" presId="urn:microsoft.com/office/officeart/2018/5/layout/IconCircleLabelList"/>
    <dgm:cxn modelId="{7677FDCE-A040-48CA-8E8F-B4A15E86BC55}" type="presParOf" srcId="{F2422ED4-57B0-4AA1-B0A2-D71CFCF55A1A}" destId="{8692252B-15E7-40DE-A23F-ED1D757B0B9C}" srcOrd="4" destOrd="0" presId="urn:microsoft.com/office/officeart/2018/5/layout/IconCircleLabelList"/>
    <dgm:cxn modelId="{F29C11D1-DD44-42D1-B141-AA44CA83B56C}" type="presParOf" srcId="{8692252B-15E7-40DE-A23F-ED1D757B0B9C}" destId="{A68C9227-7EBF-4B9F-9F6E-C27D41B8F3C7}" srcOrd="0" destOrd="0" presId="urn:microsoft.com/office/officeart/2018/5/layout/IconCircleLabelList"/>
    <dgm:cxn modelId="{6A0CF0D7-C31D-49CD-8061-6AE8A8FFD5FE}" type="presParOf" srcId="{8692252B-15E7-40DE-A23F-ED1D757B0B9C}" destId="{11D9B5FF-5F3A-4BAF-A2C0-AE4BFB1AFA7B}" srcOrd="1" destOrd="0" presId="urn:microsoft.com/office/officeart/2018/5/layout/IconCircleLabelList"/>
    <dgm:cxn modelId="{833FE610-1447-4081-B018-AA95F1D632F1}" type="presParOf" srcId="{8692252B-15E7-40DE-A23F-ED1D757B0B9C}" destId="{AD3BE7D9-1CBA-4CE5-BF3E-1EDA3C312F48}" srcOrd="2" destOrd="0" presId="urn:microsoft.com/office/officeart/2018/5/layout/IconCircleLabelList"/>
    <dgm:cxn modelId="{669A7EDE-1472-4F1A-8CED-0E6A633987A1}" type="presParOf" srcId="{8692252B-15E7-40DE-A23F-ED1D757B0B9C}" destId="{A3F412B9-377F-48A7-A3BE-8D93AE6D326A}" srcOrd="3" destOrd="0" presId="urn:microsoft.com/office/officeart/2018/5/layout/IconCircleLabel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D8B35D-9D64-4805-9F58-ABEDBB68A15D}">
      <dsp:nvSpPr>
        <dsp:cNvPr id="0" name=""/>
        <dsp:cNvSpPr/>
      </dsp:nvSpPr>
      <dsp:spPr>
        <a:xfrm>
          <a:off x="638681" y="544"/>
          <a:ext cx="920003" cy="920003"/>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16215D-4B21-48E0-B94D-1ADBD5A8D52B}">
      <dsp:nvSpPr>
        <dsp:cNvPr id="0" name=""/>
        <dsp:cNvSpPr/>
      </dsp:nvSpPr>
      <dsp:spPr>
        <a:xfrm>
          <a:off x="834747" y="196611"/>
          <a:ext cx="527871" cy="5278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6F4B06E-B9C4-40EB-90A3-569FF777D2D3}">
      <dsp:nvSpPr>
        <dsp:cNvPr id="0" name=""/>
        <dsp:cNvSpPr/>
      </dsp:nvSpPr>
      <dsp:spPr>
        <a:xfrm>
          <a:off x="344581" y="1207107"/>
          <a:ext cx="1508203" cy="603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GB" sz="1100" kern="1200"/>
            <a:t>We had to create a working network for Northwest Architecture Studio</a:t>
          </a:r>
          <a:endParaRPr lang="en-US" sz="1100" kern="1200"/>
        </a:p>
      </dsp:txBody>
      <dsp:txXfrm>
        <a:off x="344581" y="1207107"/>
        <a:ext cx="1508203" cy="603281"/>
      </dsp:txXfrm>
    </dsp:sp>
    <dsp:sp modelId="{1F210C88-B50C-49FB-8489-A097CD55C256}">
      <dsp:nvSpPr>
        <dsp:cNvPr id="0" name=""/>
        <dsp:cNvSpPr/>
      </dsp:nvSpPr>
      <dsp:spPr>
        <a:xfrm>
          <a:off x="2410819" y="544"/>
          <a:ext cx="920003" cy="920003"/>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62EA33-789A-4826-85C4-75EA3F0C8CCA}">
      <dsp:nvSpPr>
        <dsp:cNvPr id="0" name=""/>
        <dsp:cNvSpPr/>
      </dsp:nvSpPr>
      <dsp:spPr>
        <a:xfrm>
          <a:off x="2606886" y="196611"/>
          <a:ext cx="527871" cy="5278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EE4E2C1-8668-4E6D-89FD-F9D5581C9327}">
      <dsp:nvSpPr>
        <dsp:cNvPr id="0" name=""/>
        <dsp:cNvSpPr/>
      </dsp:nvSpPr>
      <dsp:spPr>
        <a:xfrm>
          <a:off x="2116720" y="1207107"/>
          <a:ext cx="1508203" cy="603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GB" sz="1100" kern="1200"/>
            <a:t>Connect the office LAN to a cloud network.</a:t>
          </a:r>
          <a:endParaRPr lang="en-US" sz="1100" kern="1200"/>
        </a:p>
      </dsp:txBody>
      <dsp:txXfrm>
        <a:off x="2116720" y="1207107"/>
        <a:ext cx="1508203" cy="603281"/>
      </dsp:txXfrm>
    </dsp:sp>
    <dsp:sp modelId="{A68C9227-7EBF-4B9F-9F6E-C27D41B8F3C7}">
      <dsp:nvSpPr>
        <dsp:cNvPr id="0" name=""/>
        <dsp:cNvSpPr/>
      </dsp:nvSpPr>
      <dsp:spPr>
        <a:xfrm>
          <a:off x="1524750" y="2187439"/>
          <a:ext cx="920003" cy="920003"/>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D9B5FF-5F3A-4BAF-A2C0-AE4BFB1AFA7B}">
      <dsp:nvSpPr>
        <dsp:cNvPr id="0" name=""/>
        <dsp:cNvSpPr/>
      </dsp:nvSpPr>
      <dsp:spPr>
        <a:xfrm>
          <a:off x="1720816" y="2383505"/>
          <a:ext cx="527871" cy="5278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3F412B9-377F-48A7-A3BE-8D93AE6D326A}">
      <dsp:nvSpPr>
        <dsp:cNvPr id="0" name=""/>
        <dsp:cNvSpPr/>
      </dsp:nvSpPr>
      <dsp:spPr>
        <a:xfrm>
          <a:off x="1230650" y="3394001"/>
          <a:ext cx="1508203" cy="603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GB" sz="1100" kern="1200"/>
            <a:t>Configure the IP addresses</a:t>
          </a:r>
          <a:endParaRPr lang="en-US" sz="1100" kern="1200"/>
        </a:p>
      </dsp:txBody>
      <dsp:txXfrm>
        <a:off x="1230650" y="3394001"/>
        <a:ext cx="1508203" cy="603281"/>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AB3A824-1A51-4B26-AD58-A6D8E14F6C04}" type="datetimeFigureOut">
              <a:rPr lang="en-US" dirty="0"/>
              <a:t>10/24/2026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a:solidFill>
                  <a:schemeClr val="accent6"/>
                </a:solidFill>
                <a:latin typeface="Wingdings 3" panose="05040102010807070707" pitchFamily="18" charset="2"/>
              </a:rPr>
              <a:t>z</a:t>
            </a:r>
            <a:endParaRPr lang="en-US" sz="240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425392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D162C4-EDD9-4389-A98B-B87ECEA2A816}" type="datetimeFigureOut">
              <a:rPr lang="en-US" dirty="0"/>
              <a:t>10/24/2026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729310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10/24/2026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3859946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p>
        </p:txBody>
      </p:sp>
      <p:sp>
        <p:nvSpPr>
          <p:cNvPr id="3" name="Content Placeholder 2"/>
          <p:cNvSpPr>
            <a:spLocks noGrp="1"/>
          </p:cNvSpPr>
          <p:nvPr>
            <p:ph sz="half" idx="1"/>
          </p:nvPr>
        </p:nvSpPr>
        <p:spPr>
          <a:xfrm>
            <a:off x="2605374" y="2052116"/>
            <a:ext cx="3891960" cy="39978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66636" y="2052114"/>
            <a:ext cx="3894222" cy="399782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A954B2F-12DE-47F5-8894-472B206D2E1E}" type="datetimeFigureOut">
              <a:rPr lang="en-US" dirty="0"/>
              <a:t>10/24/2026</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015850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F30E46F-7819-4ACF-B48B-48222C2ACC88}" type="datetimeFigureOut">
              <a:rPr lang="en-US" dirty="0"/>
              <a:t>10/24/2026</a:t>
            </a:fld>
            <a:endParaRPr lang="en-US"/>
          </a:p>
        </p:txBody>
      </p:sp>
      <p:sp>
        <p:nvSpPr>
          <p:cNvPr id="8" name="Footer Placeholder 7"/>
          <p:cNvSpPr>
            <a:spLocks noGrp="1"/>
          </p:cNvSpPr>
          <p:nvPr>
            <p:ph type="ftr" sz="quarter" idx="11"/>
          </p:nvPr>
        </p:nvSpPr>
        <p:spPr/>
        <p:txBody>
          <a:bodyPr/>
          <a:lstStyle/>
          <a:p>
            <a:r>
              <a:rPr lang="en-US"/>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165141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AF3416-4057-4DAA-829D-4CA07428D088}" type="datetimeFigureOut">
              <a:rPr lang="en-US" dirty="0"/>
              <a:t>10/24/2026</a:t>
            </a:fld>
            <a:endParaRPr lang="en-US"/>
          </a:p>
        </p:txBody>
      </p:sp>
      <p:sp>
        <p:nvSpPr>
          <p:cNvPr id="4" name="Footer Placeholder 3"/>
          <p:cNvSpPr>
            <a:spLocks noGrp="1"/>
          </p:cNvSpPr>
          <p:nvPr>
            <p:ph type="ftr" sz="quarter" idx="11"/>
          </p:nvPr>
        </p:nvSpPr>
        <p:spPr/>
        <p:txBody>
          <a:bodyPr/>
          <a:lstStyle/>
          <a:p>
            <a:r>
              <a:rPr lang="en-US"/>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607828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10/24/2026</a:t>
            </a:fld>
            <a:endParaRPr lang="en-US"/>
          </a:p>
        </p:txBody>
      </p:sp>
      <p:sp>
        <p:nvSpPr>
          <p:cNvPr id="3" name="Footer Placeholder 2"/>
          <p:cNvSpPr>
            <a:spLocks noGrp="1"/>
          </p:cNvSpPr>
          <p:nvPr>
            <p:ph type="ftr" sz="quarter" idx="11"/>
          </p:nvPr>
        </p:nvSpPr>
        <p:spPr/>
        <p:txBody>
          <a:bodyPr/>
          <a:lstStyle/>
          <a:p>
            <a:r>
              <a:rPr lang="en-US"/>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4209070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p>
        </p:txBody>
      </p:sp>
      <p:sp>
        <p:nvSpPr>
          <p:cNvPr id="3" name="Content Placeholder 2"/>
          <p:cNvSpPr>
            <a:spLocks noGrp="1"/>
          </p:cNvSpPr>
          <p:nvPr>
            <p:ph idx="1"/>
          </p:nvPr>
        </p:nvSpPr>
        <p:spPr>
          <a:xfrm>
            <a:off x="5120154" y="805818"/>
            <a:ext cx="5446278" cy="52441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10/24/2026</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3686107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10/24/2026</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1450185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857E33E-8B18-4087-B112-809917729534}" type="datetimeFigureOut">
              <a:rPr lang="en-US" dirty="0"/>
              <a:t>10/24/2026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3397036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FFE419-2371-464F-8239-3959401C3561}" type="datetimeFigureOut">
              <a:rPr lang="en-US" dirty="0"/>
              <a:t>10/24/2026</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8813372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Eigth level</a:t>
            </a:r>
          </a:p>
          <a:p>
            <a:pPr lvl="8"/>
            <a:r>
              <a:rPr lang="en-US"/>
              <a:t>Ninth level</a:t>
            </a:r>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10/24/2026</a:t>
            </a:fld>
            <a:endParaRPr lang="en-US"/>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1288832335"/>
      </p:ext>
    </p:extLst>
  </p:cSld>
  <p:clrMap bg1="dk1" tx1="lt1" bg2="dk2" tx2="lt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 id="2147483807" r:id="rId7"/>
    <p:sldLayoutId id="2147483808" r:id="rId8"/>
    <p:sldLayoutId id="2147483809" r:id="rId9"/>
    <p:sldLayoutId id="2147483810" r:id="rId10"/>
    <p:sldLayoutId id="2147483811"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2.png"/><Relationship Id="rId7" Type="http://schemas.openxmlformats.org/officeDocument/2006/relationships/diagramLayout" Target="../diagrams/layout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Data" Target="../diagrams/data1.xml"/><Relationship Id="rId5" Type="http://schemas.openxmlformats.org/officeDocument/2006/relationships/image" Target="../media/image13.png"/><Relationship Id="rId10" Type="http://schemas.microsoft.com/office/2007/relationships/diagramDrawing" Target="../diagrams/drawing1.xml"/><Relationship Id="rId4" Type="http://schemas.openxmlformats.org/officeDocument/2006/relationships/image" Target="../media/image3.png"/><Relationship Id="rId9" Type="http://schemas.openxmlformats.org/officeDocument/2006/relationships/diagramColors" Target="../diagrams/colors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eg"/><Relationship Id="rId1" Type="http://schemas.openxmlformats.org/officeDocument/2006/relationships/slideLayout" Target="../slideLayouts/slideLayout6.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8.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1.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video" Target="https://www.youtube.com/embed/JPmmHRLnw7w?feature=oembed" TargetMode="External"/><Relationship Id="rId6" Type="http://schemas.openxmlformats.org/officeDocument/2006/relationships/image" Target="../media/image32.jpe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83276" y="659900"/>
            <a:ext cx="6166616" cy="669720"/>
          </a:xfrm>
        </p:spPr>
        <p:txBody>
          <a:bodyPr>
            <a:normAutofit/>
          </a:bodyPr>
          <a:lstStyle/>
          <a:p>
            <a:pPr algn="l"/>
            <a:r>
              <a:rPr lang="en-GB" sz="3600" b="1">
                <a:cs typeface="Arial"/>
              </a:rPr>
              <a:t>Team Name: 4 Brains 1 Cell</a:t>
            </a:r>
            <a:endParaRPr lang="en-US" sz="3600">
              <a:cs typeface="Arial"/>
            </a:endParaRPr>
          </a:p>
        </p:txBody>
      </p:sp>
      <p:sp>
        <p:nvSpPr>
          <p:cNvPr id="3" name="Subtitle 2"/>
          <p:cNvSpPr>
            <a:spLocks noGrp="1"/>
          </p:cNvSpPr>
          <p:nvPr>
            <p:ph type="subTitle" idx="1"/>
          </p:nvPr>
        </p:nvSpPr>
        <p:spPr>
          <a:xfrm>
            <a:off x="1278798" y="1556465"/>
            <a:ext cx="4262224" cy="3760876"/>
          </a:xfrm>
        </p:spPr>
        <p:txBody>
          <a:bodyPr vert="horz" lIns="91440" tIns="0" rIns="91440" bIns="45720" rtlCol="0" anchor="b">
            <a:noAutofit/>
          </a:bodyPr>
          <a:lstStyle/>
          <a:p>
            <a:pPr algn="l"/>
            <a:r>
              <a:rPr lang="en-GB" sz="3200" b="1">
                <a:cs typeface="Arial"/>
              </a:rPr>
              <a:t>Members: </a:t>
            </a:r>
            <a:endParaRPr lang="en-US" sz="3200">
              <a:cs typeface="Arial"/>
            </a:endParaRPr>
          </a:p>
          <a:p>
            <a:pPr algn="l"/>
            <a:r>
              <a:rPr lang="en-GB" sz="2800" b="1">
                <a:cs typeface="Arial"/>
              </a:rPr>
              <a:t>  Kelly</a:t>
            </a:r>
            <a:endParaRPr lang="en-US" sz="2800">
              <a:cs typeface="Arial"/>
            </a:endParaRPr>
          </a:p>
          <a:p>
            <a:pPr algn="l"/>
            <a:r>
              <a:rPr lang="en-GB" sz="2800" b="1">
                <a:cs typeface="Arial"/>
              </a:rPr>
              <a:t>  Rebecca</a:t>
            </a:r>
          </a:p>
          <a:p>
            <a:pPr algn="l"/>
            <a:r>
              <a:rPr lang="en-GB" sz="2800" b="1">
                <a:cs typeface="Arial"/>
              </a:rPr>
              <a:t>  Hashim</a:t>
            </a:r>
          </a:p>
          <a:p>
            <a:pPr algn="l"/>
            <a:r>
              <a:rPr lang="en-GB" sz="2800" b="1">
                <a:cs typeface="Arial"/>
              </a:rPr>
              <a:t>  Hasan</a:t>
            </a:r>
          </a:p>
        </p:txBody>
      </p:sp>
      <p:pic>
        <p:nvPicPr>
          <p:cNvPr id="4" name="Graphic 3">
            <a:extLst>
              <a:ext uri="{FF2B5EF4-FFF2-40B4-BE49-F238E27FC236}">
                <a16:creationId xmlns:a16="http://schemas.microsoft.com/office/drawing/2014/main" id="{B21D2289-F3FB-1B2C-89CA-C21DD962C6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033782" y="-178254"/>
            <a:ext cx="3009900" cy="3009900"/>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3286E-ECA3-9FCB-B1D8-B88FF1EC81EA}"/>
              </a:ext>
            </a:extLst>
          </p:cNvPr>
          <p:cNvSpPr>
            <a:spLocks noGrp="1"/>
          </p:cNvSpPr>
          <p:nvPr>
            <p:ph type="title"/>
          </p:nvPr>
        </p:nvSpPr>
        <p:spPr>
          <a:xfrm>
            <a:off x="1039334" y="350516"/>
            <a:ext cx="10551341" cy="662211"/>
          </a:xfrm>
        </p:spPr>
        <p:txBody>
          <a:bodyPr vert="horz" lIns="91440" tIns="45720" rIns="91440" bIns="45720" rtlCol="0" anchor="t">
            <a:noAutofit/>
          </a:bodyPr>
          <a:lstStyle/>
          <a:p>
            <a:pPr algn="ctr"/>
            <a:r>
              <a:rPr lang="en-GB" sz="3600" b="1">
                <a:cs typeface="Arial"/>
              </a:rPr>
              <a:t>What will be mentioned in this presentation:</a:t>
            </a:r>
          </a:p>
        </p:txBody>
      </p:sp>
      <p:sp>
        <p:nvSpPr>
          <p:cNvPr id="3" name="Content Placeholder 2">
            <a:extLst>
              <a:ext uri="{FF2B5EF4-FFF2-40B4-BE49-F238E27FC236}">
                <a16:creationId xmlns:a16="http://schemas.microsoft.com/office/drawing/2014/main" id="{B6B63DBD-FD81-06C3-C740-940DFF29E804}"/>
              </a:ext>
            </a:extLst>
          </p:cNvPr>
          <p:cNvSpPr>
            <a:spLocks noGrp="1"/>
          </p:cNvSpPr>
          <p:nvPr>
            <p:ph idx="1"/>
          </p:nvPr>
        </p:nvSpPr>
        <p:spPr>
          <a:xfrm>
            <a:off x="1292010" y="2762282"/>
            <a:ext cx="8999071" cy="3758001"/>
          </a:xfrm>
        </p:spPr>
        <p:txBody>
          <a:bodyPr vert="horz" lIns="91440" tIns="45720" rIns="91440" bIns="45720" rtlCol="0" anchor="t">
            <a:normAutofit fontScale="92500"/>
          </a:bodyPr>
          <a:lstStyle/>
          <a:p>
            <a:pPr marL="0" indent="0">
              <a:buNone/>
            </a:pPr>
            <a:r>
              <a:rPr lang="en-GB" sz="3600" b="1">
                <a:cs typeface="Arial" panose="020B0604020202020204"/>
              </a:rPr>
              <a:t>MP1 Computing: PC architecture and SQL</a:t>
            </a:r>
          </a:p>
          <a:p>
            <a:pPr marL="0" indent="0">
              <a:buNone/>
            </a:pPr>
            <a:r>
              <a:rPr lang="en-GB" sz="3600" b="1">
                <a:cs typeface="Arial" panose="020B0604020202020204"/>
              </a:rPr>
              <a:t>MP2 Software Eng: Pennine Pizza Works</a:t>
            </a:r>
          </a:p>
          <a:p>
            <a:pPr marL="0" indent="0">
              <a:buNone/>
            </a:pPr>
            <a:r>
              <a:rPr lang="en-GB" sz="3600" b="1">
                <a:cs typeface="Arial" panose="020B0604020202020204"/>
              </a:rPr>
              <a:t>MP3 Networking: Studio Network</a:t>
            </a:r>
          </a:p>
          <a:p>
            <a:pPr marL="0" indent="0">
              <a:buNone/>
            </a:pPr>
            <a:r>
              <a:rPr lang="en-GB" sz="3600" b="1">
                <a:cs typeface="Arial" panose="020B0604020202020204"/>
              </a:rPr>
              <a:t>MP4 Cyber-Security: cyber-security awareness writing</a:t>
            </a:r>
          </a:p>
        </p:txBody>
      </p:sp>
      <p:sp>
        <p:nvSpPr>
          <p:cNvPr id="4" name="TextBox 3">
            <a:extLst>
              <a:ext uri="{FF2B5EF4-FFF2-40B4-BE49-F238E27FC236}">
                <a16:creationId xmlns:a16="http://schemas.microsoft.com/office/drawing/2014/main" id="{75C9B307-F312-E828-DAC9-6A6C636E73FA}"/>
              </a:ext>
            </a:extLst>
          </p:cNvPr>
          <p:cNvSpPr txBox="1"/>
          <p:nvPr/>
        </p:nvSpPr>
        <p:spPr>
          <a:xfrm>
            <a:off x="1455351" y="1187621"/>
            <a:ext cx="746897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We was given different mini projects to complete with each one being different, we was asked to build and test other networks.  </a:t>
            </a:r>
            <a:endParaRPr lang="en-US"/>
          </a:p>
        </p:txBody>
      </p:sp>
    </p:spTree>
    <p:extLst>
      <p:ext uri="{BB962C8B-B14F-4D97-AF65-F5344CB8AC3E}">
        <p14:creationId xmlns:p14="http://schemas.microsoft.com/office/powerpoint/2010/main" val="4030203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45378-EBFA-E646-03AA-382F645EE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3CA510-39A7-C6AC-F72F-5E45FD45DBD5}"/>
              </a:ext>
            </a:extLst>
          </p:cNvPr>
          <p:cNvSpPr>
            <a:spLocks noGrp="1"/>
          </p:cNvSpPr>
          <p:nvPr>
            <p:ph type="title"/>
          </p:nvPr>
        </p:nvSpPr>
        <p:spPr>
          <a:xfrm>
            <a:off x="1522387" y="296087"/>
            <a:ext cx="9000127" cy="1077229"/>
          </a:xfrm>
        </p:spPr>
        <p:txBody>
          <a:bodyPr>
            <a:normAutofit/>
          </a:bodyPr>
          <a:lstStyle/>
          <a:p>
            <a:pPr algn="l"/>
            <a:r>
              <a:rPr lang="en-GB" sz="3200" b="1">
                <a:solidFill>
                  <a:srgbClr val="FFC000"/>
                </a:solidFill>
                <a:latin typeface="Calibri"/>
                <a:ea typeface="Calibri"/>
                <a:cs typeface="Calibri"/>
              </a:rPr>
              <a:t>Mini Project 1: </a:t>
            </a:r>
            <a:r>
              <a:rPr lang="en-GB" sz="3200" b="1">
                <a:solidFill>
                  <a:srgbClr val="F5F5F5"/>
                </a:solidFill>
                <a:latin typeface="Calibri"/>
                <a:ea typeface="Calibri"/>
                <a:cs typeface="Calibri"/>
              </a:rPr>
              <a:t>Northwest Architecture Studio Ltd.</a:t>
            </a:r>
            <a:endParaRPr lang="en-US" sz="3200">
              <a:cs typeface="Arial"/>
            </a:endParaRPr>
          </a:p>
        </p:txBody>
      </p:sp>
      <p:pic>
        <p:nvPicPr>
          <p:cNvPr id="4" name="Content Placeholder 3">
            <a:extLst>
              <a:ext uri="{FF2B5EF4-FFF2-40B4-BE49-F238E27FC236}">
                <a16:creationId xmlns:a16="http://schemas.microsoft.com/office/drawing/2014/main" id="{43C65BF6-4F2A-E038-49C5-31B07DF6BE5B}"/>
              </a:ext>
            </a:extLst>
          </p:cNvPr>
          <p:cNvPicPr>
            <a:picLocks noGrp="1" noChangeAspect="1"/>
          </p:cNvPicPr>
          <p:nvPr>
            <p:ph idx="1"/>
          </p:nvPr>
        </p:nvPicPr>
        <p:blipFill>
          <a:blip r:embed="rId2"/>
          <a:stretch>
            <a:fillRect/>
          </a:stretch>
        </p:blipFill>
        <p:spPr>
          <a:xfrm>
            <a:off x="1255597" y="1171659"/>
            <a:ext cx="5290486" cy="4914608"/>
          </a:xfrm>
          <a:prstGeom prst="rect">
            <a:avLst/>
          </a:prstGeom>
        </p:spPr>
      </p:pic>
      <p:sp>
        <p:nvSpPr>
          <p:cNvPr id="5" name="TextBox 4">
            <a:extLst>
              <a:ext uri="{FF2B5EF4-FFF2-40B4-BE49-F238E27FC236}">
                <a16:creationId xmlns:a16="http://schemas.microsoft.com/office/drawing/2014/main" id="{E48C30E5-E4C1-0234-D20A-FFE9D45E68F9}"/>
              </a:ext>
            </a:extLst>
          </p:cNvPr>
          <p:cNvSpPr txBox="1"/>
          <p:nvPr/>
        </p:nvSpPr>
        <p:spPr>
          <a:xfrm>
            <a:off x="6843756" y="1402934"/>
            <a:ext cx="356786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The PC build made in </a:t>
            </a:r>
            <a:r>
              <a:rPr lang="en-US" err="1">
                <a:cs typeface="Arial"/>
              </a:rPr>
              <a:t>BuildCores</a:t>
            </a:r>
            <a:endParaRPr lang="en-US" err="1"/>
          </a:p>
        </p:txBody>
      </p:sp>
      <p:sp>
        <p:nvSpPr>
          <p:cNvPr id="7" name="TextBox 6">
            <a:extLst>
              <a:ext uri="{FF2B5EF4-FFF2-40B4-BE49-F238E27FC236}">
                <a16:creationId xmlns:a16="http://schemas.microsoft.com/office/drawing/2014/main" id="{90237C23-D5CD-21B9-A24E-8A853CBA069B}"/>
              </a:ext>
            </a:extLst>
          </p:cNvPr>
          <p:cNvSpPr txBox="1"/>
          <p:nvPr/>
        </p:nvSpPr>
        <p:spPr>
          <a:xfrm>
            <a:off x="6772721" y="1893713"/>
            <a:ext cx="3567869"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In this mini project we was tasked to make a 3D model using </a:t>
            </a:r>
            <a:r>
              <a:rPr lang="en-US" err="1">
                <a:cs typeface="Arial"/>
              </a:rPr>
              <a:t>buildcores</a:t>
            </a:r>
            <a:r>
              <a:rPr lang="en-US">
                <a:cs typeface="Arial"/>
              </a:rPr>
              <a:t> to create a computer model from scratch with a specific budget </a:t>
            </a:r>
          </a:p>
        </p:txBody>
      </p:sp>
      <p:sp>
        <p:nvSpPr>
          <p:cNvPr id="8" name="TextBox 7">
            <a:extLst>
              <a:ext uri="{FF2B5EF4-FFF2-40B4-BE49-F238E27FC236}">
                <a16:creationId xmlns:a16="http://schemas.microsoft.com/office/drawing/2014/main" id="{0A2CA622-9664-D04A-42C4-6E81A8E77398}"/>
              </a:ext>
            </a:extLst>
          </p:cNvPr>
          <p:cNvSpPr txBox="1"/>
          <p:nvPr/>
        </p:nvSpPr>
        <p:spPr>
          <a:xfrm>
            <a:off x="6772720" y="3772881"/>
            <a:ext cx="356786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Budget:£850</a:t>
            </a:r>
          </a:p>
        </p:txBody>
      </p:sp>
      <p:sp>
        <p:nvSpPr>
          <p:cNvPr id="9" name="TextBox 8">
            <a:extLst>
              <a:ext uri="{FF2B5EF4-FFF2-40B4-BE49-F238E27FC236}">
                <a16:creationId xmlns:a16="http://schemas.microsoft.com/office/drawing/2014/main" id="{0CBF9B80-47C0-3146-0FEA-0C8EC902CEC1}"/>
              </a:ext>
            </a:extLst>
          </p:cNvPr>
          <p:cNvSpPr txBox="1"/>
          <p:nvPr/>
        </p:nvSpPr>
        <p:spPr>
          <a:xfrm>
            <a:off x="6772719" y="4347609"/>
            <a:ext cx="356786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Role:</a:t>
            </a:r>
            <a:r>
              <a:rPr lang="en-US">
                <a:latin typeface="Arial"/>
                <a:cs typeface="Arial"/>
              </a:rPr>
              <a:t> Administrative Assistant</a:t>
            </a:r>
          </a:p>
        </p:txBody>
      </p:sp>
    </p:spTree>
    <p:extLst>
      <p:ext uri="{BB962C8B-B14F-4D97-AF65-F5344CB8AC3E}">
        <p14:creationId xmlns:p14="http://schemas.microsoft.com/office/powerpoint/2010/main" val="8392129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E5E5A-6760-1628-6DD3-081B178143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3769C7-C9EB-9AE0-8956-40C71A04B2E8}"/>
              </a:ext>
            </a:extLst>
          </p:cNvPr>
          <p:cNvSpPr>
            <a:spLocks noGrp="1"/>
          </p:cNvSpPr>
          <p:nvPr>
            <p:ph type="title"/>
          </p:nvPr>
        </p:nvSpPr>
        <p:spPr>
          <a:xfrm>
            <a:off x="1522387" y="296087"/>
            <a:ext cx="9000127" cy="1077229"/>
          </a:xfrm>
        </p:spPr>
        <p:txBody>
          <a:bodyPr>
            <a:normAutofit/>
          </a:bodyPr>
          <a:lstStyle/>
          <a:p>
            <a:pPr algn="l"/>
            <a:r>
              <a:rPr lang="en-GB" sz="3200" b="1">
                <a:solidFill>
                  <a:srgbClr val="FFC000"/>
                </a:solidFill>
                <a:latin typeface="Calibri"/>
                <a:ea typeface="Calibri"/>
                <a:cs typeface="Calibri"/>
              </a:rPr>
              <a:t>Mini Project 1: </a:t>
            </a:r>
            <a:r>
              <a:rPr lang="en-GB" sz="3200" b="1">
                <a:solidFill>
                  <a:srgbClr val="F5F5F5"/>
                </a:solidFill>
                <a:latin typeface="Calibri"/>
                <a:ea typeface="Calibri"/>
                <a:cs typeface="Calibri"/>
              </a:rPr>
              <a:t>Northwest Architecture Studio Ltd.</a:t>
            </a:r>
          </a:p>
        </p:txBody>
      </p:sp>
      <p:pic>
        <p:nvPicPr>
          <p:cNvPr id="4" name="Content Placeholder 3">
            <a:extLst>
              <a:ext uri="{FF2B5EF4-FFF2-40B4-BE49-F238E27FC236}">
                <a16:creationId xmlns:a16="http://schemas.microsoft.com/office/drawing/2014/main" id="{BA1C7A39-0F6A-0717-3815-99AABE73F89F}"/>
              </a:ext>
            </a:extLst>
          </p:cNvPr>
          <p:cNvPicPr>
            <a:picLocks noGrp="1" noChangeAspect="1"/>
          </p:cNvPicPr>
          <p:nvPr>
            <p:ph idx="1"/>
          </p:nvPr>
        </p:nvPicPr>
        <p:blipFill>
          <a:blip r:embed="rId2"/>
          <a:srcRect r="64125" b="-142"/>
          <a:stretch>
            <a:fillRect/>
          </a:stretch>
        </p:blipFill>
        <p:spPr>
          <a:xfrm>
            <a:off x="131017" y="1272244"/>
            <a:ext cx="5438620" cy="5288174"/>
          </a:xfrm>
          <a:prstGeom prst="rect">
            <a:avLst/>
          </a:prstGeom>
        </p:spPr>
      </p:pic>
      <p:pic>
        <p:nvPicPr>
          <p:cNvPr id="7" name="Picture 6">
            <a:extLst>
              <a:ext uri="{FF2B5EF4-FFF2-40B4-BE49-F238E27FC236}">
                <a16:creationId xmlns:a16="http://schemas.microsoft.com/office/drawing/2014/main" id="{F5285509-D332-A897-6188-EF5B1A9534C2}"/>
              </a:ext>
            </a:extLst>
          </p:cNvPr>
          <p:cNvPicPr>
            <a:picLocks noChangeAspect="1"/>
          </p:cNvPicPr>
          <p:nvPr/>
        </p:nvPicPr>
        <p:blipFill>
          <a:blip r:embed="rId3"/>
          <a:stretch>
            <a:fillRect/>
          </a:stretch>
        </p:blipFill>
        <p:spPr>
          <a:xfrm>
            <a:off x="5813483" y="1272153"/>
            <a:ext cx="5440545" cy="5585847"/>
          </a:xfrm>
          <a:prstGeom prst="rect">
            <a:avLst/>
          </a:prstGeom>
        </p:spPr>
      </p:pic>
    </p:spTree>
    <p:extLst>
      <p:ext uri="{BB962C8B-B14F-4D97-AF65-F5344CB8AC3E}">
        <p14:creationId xmlns:p14="http://schemas.microsoft.com/office/powerpoint/2010/main" val="3680164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73ABB-F163-2DCD-AABA-E1B302FA765C}"/>
              </a:ext>
            </a:extLst>
          </p:cNvPr>
          <p:cNvSpPr>
            <a:spLocks noGrp="1"/>
          </p:cNvSpPr>
          <p:nvPr>
            <p:ph type="ctrTitle"/>
          </p:nvPr>
        </p:nvSpPr>
        <p:spPr/>
        <p:txBody>
          <a:bodyPr/>
          <a:lstStyle/>
          <a:p>
            <a:r>
              <a:rPr lang="en-GB">
                <a:cs typeface="Arial"/>
              </a:rPr>
              <a:t>PENNINE PIZZA WORKS</a:t>
            </a:r>
            <a:endParaRPr lang="en-GB"/>
          </a:p>
        </p:txBody>
      </p:sp>
      <p:sp>
        <p:nvSpPr>
          <p:cNvPr id="3" name="Subtitle 2">
            <a:extLst>
              <a:ext uri="{FF2B5EF4-FFF2-40B4-BE49-F238E27FC236}">
                <a16:creationId xmlns:a16="http://schemas.microsoft.com/office/drawing/2014/main" id="{1B630A69-75F5-C799-EFE9-13EBAEB340F0}"/>
              </a:ext>
            </a:extLst>
          </p:cNvPr>
          <p:cNvSpPr>
            <a:spLocks noGrp="1"/>
          </p:cNvSpPr>
          <p:nvPr>
            <p:ph type="subTitle" idx="1"/>
          </p:nvPr>
        </p:nvSpPr>
        <p:spPr/>
        <p:txBody>
          <a:bodyPr/>
          <a:lstStyle/>
          <a:p>
            <a:r>
              <a:rPr lang="en-GB">
                <a:cs typeface="Arial"/>
              </a:rPr>
              <a:t>MINI PROJECT 2</a:t>
            </a:r>
            <a:endParaRPr lang="en-GB"/>
          </a:p>
        </p:txBody>
      </p:sp>
    </p:spTree>
    <p:extLst>
      <p:ext uri="{BB962C8B-B14F-4D97-AF65-F5344CB8AC3E}">
        <p14:creationId xmlns:p14="http://schemas.microsoft.com/office/powerpoint/2010/main" val="344942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37D275DB-DFB6-CE9F-7BF3-436C8E3CBDF4}"/>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028FBE5-2515-4CF7-9061-EDC988E0A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10C2A92B-92F5-430A-A370-FD864418A2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26" name="Picture 25">
            <a:extLst>
              <a:ext uri="{FF2B5EF4-FFF2-40B4-BE49-F238E27FC236}">
                <a16:creationId xmlns:a16="http://schemas.microsoft.com/office/drawing/2014/main" id="{C151BBAC-D417-4C14-AAFE-8AAA55B26E0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7" name="Rectangle 26">
            <a:extLst>
              <a:ext uri="{FF2B5EF4-FFF2-40B4-BE49-F238E27FC236}">
                <a16:creationId xmlns:a16="http://schemas.microsoft.com/office/drawing/2014/main" id="{7DBE5AD7-4CDA-4167-83AD-34003BB38D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D580359-F271-4995-847D-4B9BBE8DE1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FE338A2-FC59-4CD5-84F6-6D7B39CC57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745A62-0DEF-BDCB-C6FB-5905EC2A3DBE}"/>
              </a:ext>
            </a:extLst>
          </p:cNvPr>
          <p:cNvSpPr>
            <a:spLocks noGrp="1"/>
          </p:cNvSpPr>
          <p:nvPr>
            <p:ph type="title"/>
          </p:nvPr>
        </p:nvSpPr>
        <p:spPr>
          <a:xfrm>
            <a:off x="7559704" y="808056"/>
            <a:ext cx="3013024" cy="1077229"/>
          </a:xfrm>
        </p:spPr>
        <p:txBody>
          <a:bodyPr>
            <a:normAutofit/>
          </a:bodyPr>
          <a:lstStyle/>
          <a:p>
            <a:pPr algn="l"/>
            <a:r>
              <a:rPr lang="en-GB" sz="2600" b="1">
                <a:latin typeface="Calibri"/>
                <a:ea typeface="Calibri"/>
                <a:cs typeface="Calibri"/>
              </a:rPr>
              <a:t>Mini Project 2: Pennine Pizza Works</a:t>
            </a:r>
          </a:p>
        </p:txBody>
      </p:sp>
      <p:pic>
        <p:nvPicPr>
          <p:cNvPr id="3" name="Content Placeholder 2" descr="A screenshot of a computer&#10;&#10;AI-generated content may be incorrect.">
            <a:extLst>
              <a:ext uri="{FF2B5EF4-FFF2-40B4-BE49-F238E27FC236}">
                <a16:creationId xmlns:a16="http://schemas.microsoft.com/office/drawing/2014/main" id="{FDB6054D-0267-7335-A6B3-6B10BADD9EFF}"/>
              </a:ext>
            </a:extLst>
          </p:cNvPr>
          <p:cNvPicPr>
            <a:picLocks noChangeAspect="1"/>
          </p:cNvPicPr>
          <p:nvPr/>
        </p:nvPicPr>
        <p:blipFill>
          <a:blip r:embed="rId5"/>
          <a:srcRect r="9870" b="2"/>
          <a:stretch>
            <a:fillRect/>
          </a:stretch>
        </p:blipFill>
        <p:spPr>
          <a:xfrm>
            <a:off x="2237749" y="897482"/>
            <a:ext cx="4914867" cy="5564283"/>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30" name="Content Placeholder 6">
            <a:extLst>
              <a:ext uri="{FF2B5EF4-FFF2-40B4-BE49-F238E27FC236}">
                <a16:creationId xmlns:a16="http://schemas.microsoft.com/office/drawing/2014/main" id="{942F419C-201A-322D-5F10-F517957114B4}"/>
              </a:ext>
            </a:extLst>
          </p:cNvPr>
          <p:cNvSpPr>
            <a:spLocks noGrp="1"/>
          </p:cNvSpPr>
          <p:nvPr>
            <p:ph idx="1"/>
          </p:nvPr>
        </p:nvSpPr>
        <p:spPr>
          <a:xfrm>
            <a:off x="7559704" y="2052116"/>
            <a:ext cx="3013025" cy="3997828"/>
          </a:xfrm>
        </p:spPr>
        <p:txBody>
          <a:bodyPr>
            <a:normAutofit/>
          </a:bodyPr>
          <a:lstStyle/>
          <a:p>
            <a:pPr marL="344170" indent="-344170"/>
            <a:r>
              <a:rPr lang="en-US" sz="1800">
                <a:cs typeface="Arial"/>
              </a:rPr>
              <a:t>This was quit hard for me to do but has I got in the </a:t>
            </a:r>
            <a:r>
              <a:rPr lang="en-US" sz="1800" err="1">
                <a:cs typeface="Arial"/>
              </a:rPr>
              <a:t>flowgaritham</a:t>
            </a:r>
            <a:r>
              <a:rPr lang="en-US" sz="1800">
                <a:cs typeface="Arial"/>
              </a:rPr>
              <a:t> it was not too bad. I have written in the comment box at side of them so I could I understand the structure as I was going along and what the boxes mean so I could remember them myself. </a:t>
            </a:r>
          </a:p>
        </p:txBody>
      </p:sp>
      <p:sp>
        <p:nvSpPr>
          <p:cNvPr id="31" name="Rectangle 30">
            <a:extLst>
              <a:ext uri="{FF2B5EF4-FFF2-40B4-BE49-F238E27FC236}">
                <a16:creationId xmlns:a16="http://schemas.microsoft.com/office/drawing/2014/main" id="{A8F57220-9A7B-4037-B5C5-8BE03B333B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1918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E819EF56-0D05-401F-8D9D-A087F3B0E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a:extLst>
              <a:ext uri="{FF2B5EF4-FFF2-40B4-BE49-F238E27FC236}">
                <a16:creationId xmlns:a16="http://schemas.microsoft.com/office/drawing/2014/main" id="{46583D46-4F8A-48ED-9FC5-ACCFE59891F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31" name="Picture 30">
            <a:extLst>
              <a:ext uri="{FF2B5EF4-FFF2-40B4-BE49-F238E27FC236}">
                <a16:creationId xmlns:a16="http://schemas.microsoft.com/office/drawing/2014/main" id="{6CFBF790-FF8B-4CA1-A78A-0ED655E74F5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32" name="Rectangle 31">
            <a:extLst>
              <a:ext uri="{FF2B5EF4-FFF2-40B4-BE49-F238E27FC236}">
                <a16:creationId xmlns:a16="http://schemas.microsoft.com/office/drawing/2014/main" id="{2F99DFE0-DA13-4703-95B6-9CFDBD4A2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39580BCA-5EE9-4DE6-9060-8F5DFB3A0E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66997ED0-2734-463E-AB2D-7DE229F57E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060ECCAC-739E-4C22-866F-FD51CC0CFF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761" y="0"/>
            <a:ext cx="556745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260A1255-9D01-A1CD-4ED2-165AA18957B5}"/>
              </a:ext>
            </a:extLst>
          </p:cNvPr>
          <p:cNvPicPr>
            <a:picLocks noChangeAspect="1"/>
          </p:cNvPicPr>
          <p:nvPr/>
        </p:nvPicPr>
        <p:blipFill>
          <a:blip r:embed="rId5"/>
          <a:stretch>
            <a:fillRect/>
          </a:stretch>
        </p:blipFill>
        <p:spPr>
          <a:xfrm>
            <a:off x="1273208" y="2232396"/>
            <a:ext cx="4922124" cy="2768695"/>
          </a:xfrm>
          <a:prstGeom prst="rect">
            <a:avLst/>
          </a:prstGeom>
          <a:ln w="12700">
            <a:noFill/>
          </a:ln>
        </p:spPr>
      </p:pic>
      <p:sp>
        <p:nvSpPr>
          <p:cNvPr id="36" name="Rectangle 35">
            <a:extLst>
              <a:ext uri="{FF2B5EF4-FFF2-40B4-BE49-F238E27FC236}">
                <a16:creationId xmlns:a16="http://schemas.microsoft.com/office/drawing/2014/main" id="{ACDC68EF-9D08-46DF-9BD5-25822D9DD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5691" y="231959"/>
            <a:ext cx="5078215" cy="6369675"/>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ontent Placeholder 7">
            <a:extLst>
              <a:ext uri="{FF2B5EF4-FFF2-40B4-BE49-F238E27FC236}">
                <a16:creationId xmlns:a16="http://schemas.microsoft.com/office/drawing/2014/main" id="{88A6C08C-4D68-EF37-7D77-8730AC0DB1CB}"/>
              </a:ext>
            </a:extLst>
          </p:cNvPr>
          <p:cNvSpPr>
            <a:spLocks noGrp="1"/>
          </p:cNvSpPr>
          <p:nvPr>
            <p:ph idx="1"/>
          </p:nvPr>
        </p:nvSpPr>
        <p:spPr>
          <a:xfrm>
            <a:off x="7548118" y="2269314"/>
            <a:ext cx="3024722" cy="3780629"/>
          </a:xfrm>
        </p:spPr>
        <p:txBody>
          <a:bodyPr>
            <a:normAutofit/>
          </a:bodyPr>
          <a:lstStyle/>
          <a:p>
            <a:pPr marL="344170" indent="-344170"/>
            <a:r>
              <a:rPr lang="en-US" sz="1600">
                <a:cs typeface="Arial"/>
              </a:rPr>
              <a:t>This section is where it got tricky because the red box is an if box and that is used so the customer can not order no more than 6 pizzas as it will come up with a message. </a:t>
            </a:r>
          </a:p>
          <a:p>
            <a:pPr marL="344170" indent="-344170"/>
            <a:r>
              <a:rPr lang="en-US" sz="1600">
                <a:cs typeface="Arial"/>
              </a:rPr>
              <a:t>The orange box is a do loop this will repeat the massage. </a:t>
            </a:r>
          </a:p>
        </p:txBody>
      </p:sp>
      <p:sp>
        <p:nvSpPr>
          <p:cNvPr id="38" name="Rectangle 37">
            <a:extLst>
              <a:ext uri="{FF2B5EF4-FFF2-40B4-BE49-F238E27FC236}">
                <a16:creationId xmlns:a16="http://schemas.microsoft.com/office/drawing/2014/main" id="{AFDEBBBE-12A0-4779-9A86-7AFEA7AE9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6931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7B08B2-0DA5-4B7F-A47D-5C15ECFB0B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327C1195-FA46-32DC-84AB-017C7819877B}"/>
              </a:ext>
            </a:extLst>
          </p:cNvPr>
          <p:cNvPicPr>
            <a:picLocks noChangeAspect="1"/>
          </p:cNvPicPr>
          <p:nvPr/>
        </p:nvPicPr>
        <p:blipFill>
          <a:blip r:embed="rId3"/>
          <a:srcRect t="9091" r="11923" b="1"/>
          <a:stretch>
            <a:fillRect/>
          </a:stretch>
        </p:blipFill>
        <p:spPr>
          <a:xfrm>
            <a:off x="20" y="227"/>
            <a:ext cx="12191675" cy="6858000"/>
          </a:xfrm>
          <a:prstGeom prst="rect">
            <a:avLst/>
          </a:prstGeom>
        </p:spPr>
      </p:pic>
      <p:pic>
        <p:nvPicPr>
          <p:cNvPr id="24" name="Picture 23">
            <a:extLst>
              <a:ext uri="{FF2B5EF4-FFF2-40B4-BE49-F238E27FC236}">
                <a16:creationId xmlns:a16="http://schemas.microsoft.com/office/drawing/2014/main" id="{19C770FC-6D2D-4B73-8219-CFEB0B146F7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25" name="Picture 24">
            <a:extLst>
              <a:ext uri="{FF2B5EF4-FFF2-40B4-BE49-F238E27FC236}">
                <a16:creationId xmlns:a16="http://schemas.microsoft.com/office/drawing/2014/main" id="{2DD31FDA-BCB5-4B8D-8FB8-8CCF019C9F1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6" name="Rectangle 25">
            <a:extLst>
              <a:ext uri="{FF2B5EF4-FFF2-40B4-BE49-F238E27FC236}">
                <a16:creationId xmlns:a16="http://schemas.microsoft.com/office/drawing/2014/main" id="{590A298A-601D-412F-9A93-09DCA9DBE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474A3CD-596C-4FAC-8913-C98848CD23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6A99299-7151-43AF-94CF-2ADA8412BD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5" y="0"/>
            <a:ext cx="4431479"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BC0948FB-7F88-1114-74E6-4812739FB42F}"/>
              </a:ext>
            </a:extLst>
          </p:cNvPr>
          <p:cNvSpPr>
            <a:spLocks noGrp="1"/>
          </p:cNvSpPr>
          <p:nvPr>
            <p:ph idx="1"/>
          </p:nvPr>
        </p:nvSpPr>
        <p:spPr>
          <a:xfrm>
            <a:off x="1966281" y="2171700"/>
            <a:ext cx="2668401" cy="3878243"/>
          </a:xfrm>
        </p:spPr>
        <p:txBody>
          <a:bodyPr>
            <a:normAutofit/>
          </a:bodyPr>
          <a:lstStyle/>
          <a:p>
            <a:pPr marL="0" indent="0">
              <a:buNone/>
            </a:pPr>
            <a:r>
              <a:rPr lang="en-US" sz="1600">
                <a:cs typeface="Arial"/>
              </a:rPr>
              <a:t>This </a:t>
            </a:r>
            <a:r>
              <a:rPr lang="en-US" sz="1600" err="1">
                <a:cs typeface="Arial"/>
              </a:rPr>
              <a:t>sectio</a:t>
            </a:r>
            <a:r>
              <a:rPr lang="en-US" sz="1600">
                <a:cs typeface="Arial"/>
              </a:rPr>
              <a:t>n is for the pizza sizes and as you can see on the large pizza, I have put a message at the false side to where it will say </a:t>
            </a:r>
            <a:r>
              <a:rPr lang="en-US" sz="1600" err="1">
                <a:cs typeface="Arial"/>
              </a:rPr>
              <a:t>invaid</a:t>
            </a:r>
            <a:r>
              <a:rPr lang="en-US" sz="1600">
                <a:cs typeface="Arial"/>
              </a:rPr>
              <a:t> choice please chose small medium or large.</a:t>
            </a:r>
          </a:p>
          <a:p>
            <a:pPr marL="0" indent="0">
              <a:buNone/>
            </a:pPr>
            <a:r>
              <a:rPr lang="en-US" sz="1600">
                <a:cs typeface="Arial"/>
              </a:rPr>
              <a:t>This also has the price as an assign so this will calculate and the outcome box is where it will tell you the price.</a:t>
            </a:r>
          </a:p>
        </p:txBody>
      </p:sp>
      <p:sp>
        <p:nvSpPr>
          <p:cNvPr id="23" name="Rectangle 22">
            <a:extLst>
              <a:ext uri="{FF2B5EF4-FFF2-40B4-BE49-F238E27FC236}">
                <a16:creationId xmlns:a16="http://schemas.microsoft.com/office/drawing/2014/main" id="{09BB4655-F250-4A6F-9526-13AFF61186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3755"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0682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115" name="Picture 114">
            <a:extLst>
              <a:ext uri="{FF2B5EF4-FFF2-40B4-BE49-F238E27FC236}">
                <a16:creationId xmlns:a16="http://schemas.microsoft.com/office/drawing/2014/main" id="{26AA7C31-76FD-4B44-A1FF-D13D2515AE5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16" name="Picture 115">
            <a:extLst>
              <a:ext uri="{FF2B5EF4-FFF2-40B4-BE49-F238E27FC236}">
                <a16:creationId xmlns:a16="http://schemas.microsoft.com/office/drawing/2014/main" id="{F5CE85F9-F4EE-4E5D-8235-528527A401D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17" name="Rectangle 116">
            <a:extLst>
              <a:ext uri="{FF2B5EF4-FFF2-40B4-BE49-F238E27FC236}">
                <a16:creationId xmlns:a16="http://schemas.microsoft.com/office/drawing/2014/main" id="{17338BB4-74FF-4836-86B7-F1B0C2B62D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8" name="Rectangle 117">
            <a:extLst>
              <a:ext uri="{FF2B5EF4-FFF2-40B4-BE49-F238E27FC236}">
                <a16:creationId xmlns:a16="http://schemas.microsoft.com/office/drawing/2014/main" id="{1ABFA8A3-A231-4BC1-B8A5-C5BE7315CD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9" name="Rectangle 118">
            <a:extLst>
              <a:ext uri="{FF2B5EF4-FFF2-40B4-BE49-F238E27FC236}">
                <a16:creationId xmlns:a16="http://schemas.microsoft.com/office/drawing/2014/main" id="{FE35963E-79B2-4A8E-8F24-A94E8DDDD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20" name="Rectangle 119">
            <a:extLst>
              <a:ext uri="{FF2B5EF4-FFF2-40B4-BE49-F238E27FC236}">
                <a16:creationId xmlns:a16="http://schemas.microsoft.com/office/drawing/2014/main" id="{308E4331-210E-4E5F-9501-4C830E3400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21" name="TextBox 120">
            <a:extLst>
              <a:ext uri="{FF2B5EF4-FFF2-40B4-BE49-F238E27FC236}">
                <a16:creationId xmlns:a16="http://schemas.microsoft.com/office/drawing/2014/main" id="{1A54F778-4E1C-4F6F-9318-9795AA35C246}"/>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282" y="3262852"/>
            <a:ext cx="415636" cy="461665"/>
          </a:xfrm>
          <a:prstGeom prst="rect">
            <a:avLst/>
          </a:prstGeom>
          <a:noFill/>
        </p:spPr>
        <p:txBody>
          <a:bodyPr wrap="square" rtlCol="0">
            <a:spAutoFit/>
          </a:bodyPr>
          <a:lstStyle/>
          <a:p>
            <a:pPr algn="r">
              <a:spcAft>
                <a:spcPts val="600"/>
              </a:spcAft>
            </a:pPr>
            <a:r>
              <a:rPr lang="en-US" sz="2400">
                <a:solidFill>
                  <a:schemeClr val="accent6"/>
                </a:solidFill>
                <a:latin typeface="Wingdings 3" panose="05040102010807070707" pitchFamily="18" charset="2"/>
              </a:rPr>
              <a:t>z</a:t>
            </a:r>
            <a:endParaRPr lang="en-US" sz="2400">
              <a:solidFill>
                <a:schemeClr val="accent6"/>
              </a:solidFill>
              <a:latin typeface="MS Shell Dlg 2" panose="020B0604030504040204" pitchFamily="34" charset="0"/>
            </a:endParaRPr>
          </a:p>
        </p:txBody>
      </p:sp>
      <p:sp useBgFill="1">
        <p:nvSpPr>
          <p:cNvPr id="122" name="Rectangle 121">
            <a:extLst>
              <a:ext uri="{FF2B5EF4-FFF2-40B4-BE49-F238E27FC236}">
                <a16:creationId xmlns:a16="http://schemas.microsoft.com/office/drawing/2014/main" id="{200A9256-A44C-4406-9010-B9D7D87099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3" name="Picture 122">
            <a:extLst>
              <a:ext uri="{FF2B5EF4-FFF2-40B4-BE49-F238E27FC236}">
                <a16:creationId xmlns:a16="http://schemas.microsoft.com/office/drawing/2014/main" id="{C731F266-5507-4462-8427-0BD0B42C8BD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24" name="Picture 123">
            <a:extLst>
              <a:ext uri="{FF2B5EF4-FFF2-40B4-BE49-F238E27FC236}">
                <a16:creationId xmlns:a16="http://schemas.microsoft.com/office/drawing/2014/main" id="{126A06D6-90F0-42BA-94C0-AC6E66570F2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25" name="Rectangle 124">
            <a:extLst>
              <a:ext uri="{FF2B5EF4-FFF2-40B4-BE49-F238E27FC236}">
                <a16:creationId xmlns:a16="http://schemas.microsoft.com/office/drawing/2014/main" id="{20349629-70E2-4E72-9E59-209F1F3230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43403E22-A267-491E-9711-05F332BE7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a:extLst>
              <a:ext uri="{FF2B5EF4-FFF2-40B4-BE49-F238E27FC236}">
                <a16:creationId xmlns:a16="http://schemas.microsoft.com/office/drawing/2014/main" id="{1488C64B-FA72-4C34-B7D8-ABA7E2146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998F5671-E172-46A3-8DC0-54EC6D0E4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50531" y="647188"/>
            <a:ext cx="9091538" cy="32972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D4058A03-71A1-A9FD-4222-D2DA5D3F1DEF}"/>
              </a:ext>
            </a:extLst>
          </p:cNvPr>
          <p:cNvPicPr>
            <a:picLocks noChangeAspect="1"/>
          </p:cNvPicPr>
          <p:nvPr/>
        </p:nvPicPr>
        <p:blipFill>
          <a:blip r:embed="rId5"/>
          <a:srcRect t="2743" r="9093" b="6348"/>
          <a:stretch>
            <a:fillRect/>
          </a:stretch>
        </p:blipFill>
        <p:spPr>
          <a:xfrm>
            <a:off x="1960170" y="1152344"/>
            <a:ext cx="4069217" cy="2288986"/>
          </a:xfrm>
          <a:prstGeom prst="rect">
            <a:avLst/>
          </a:prstGeom>
          <a:ln>
            <a:noFill/>
          </a:ln>
        </p:spPr>
      </p:pic>
      <p:pic>
        <p:nvPicPr>
          <p:cNvPr id="5" name="Content Placeholder 4" descr="A screenshot of a computer&#10;&#10;AI-generated content may be incorrect.">
            <a:extLst>
              <a:ext uri="{FF2B5EF4-FFF2-40B4-BE49-F238E27FC236}">
                <a16:creationId xmlns:a16="http://schemas.microsoft.com/office/drawing/2014/main" id="{23D25992-8CEC-6B3B-FF83-48D473AEEFFC}"/>
              </a:ext>
            </a:extLst>
          </p:cNvPr>
          <p:cNvPicPr>
            <a:picLocks noGrp="1" noChangeAspect="1"/>
          </p:cNvPicPr>
          <p:nvPr>
            <p:ph idx="1"/>
          </p:nvPr>
        </p:nvPicPr>
        <p:blipFill>
          <a:blip r:embed="rId5"/>
          <a:stretch>
            <a:fillRect/>
          </a:stretch>
        </p:blipFill>
        <p:spPr>
          <a:xfrm>
            <a:off x="6355887" y="1152370"/>
            <a:ext cx="4069217" cy="2288935"/>
          </a:xfrm>
          <a:prstGeom prst="rect">
            <a:avLst/>
          </a:prstGeom>
          <a:ln>
            <a:noFill/>
          </a:ln>
        </p:spPr>
      </p:pic>
      <p:sp>
        <p:nvSpPr>
          <p:cNvPr id="129" name="Rectangle 128">
            <a:extLst>
              <a:ext uri="{FF2B5EF4-FFF2-40B4-BE49-F238E27FC236}">
                <a16:creationId xmlns:a16="http://schemas.microsoft.com/office/drawing/2014/main" id="{F9744F83-FEC9-4E5B-8530-224C258F1C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29148" y="319016"/>
            <a:ext cx="9734654" cy="3948816"/>
          </a:xfrm>
          <a:prstGeom prst="rect">
            <a:avLst/>
          </a:prstGeom>
          <a:noFill/>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B81918A1-30EC-48DB-A535-4898EA927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82966" y="888935"/>
            <a:ext cx="4228687" cy="2818547"/>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9301236F-2DE7-4B56-B413-C201491DFF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78683" y="888935"/>
            <a:ext cx="4228687" cy="2818547"/>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F304D462-CF3A-48B2-966A-0DA7B7E614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672950F-C0AE-DCFE-3279-B78594924A6F}"/>
              </a:ext>
            </a:extLst>
          </p:cNvPr>
          <p:cNvSpPr txBox="1"/>
          <p:nvPr/>
        </p:nvSpPr>
        <p:spPr>
          <a:xfrm>
            <a:off x="1905773" y="4764432"/>
            <a:ext cx="843985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ea typeface="+mn-lt"/>
                <a:cs typeface="+mn-lt"/>
              </a:rPr>
              <a:t>These screenshots show the final IF statements in my flowchart. I used </a:t>
            </a:r>
            <a:r>
              <a:rPr lang="en-GB">
                <a:latin typeface="Consolas"/>
                <a:cs typeface="Arial"/>
              </a:rPr>
              <a:t>==</a:t>
            </a:r>
            <a:r>
              <a:rPr lang="en-GB">
                <a:ea typeface="+mn-lt"/>
                <a:cs typeface="+mn-lt"/>
              </a:rPr>
              <a:t> to check whether two values are equal, such as the pizza size or the number of toppings selected. I then used Assign boxes to set the correct prices and the </a:t>
            </a:r>
            <a:r>
              <a:rPr lang="en-GB">
                <a:latin typeface="Consolas"/>
                <a:cs typeface="Arial"/>
              </a:rPr>
              <a:t>+</a:t>
            </a:r>
            <a:r>
              <a:rPr lang="en-GB">
                <a:ea typeface="+mn-lt"/>
                <a:cs typeface="+mn-lt"/>
              </a:rPr>
              <a:t> operator to add the pizza price and topping price together.</a:t>
            </a:r>
            <a:endParaRPr lang="en-US"/>
          </a:p>
          <a:p>
            <a:endParaRPr lang="en-GB">
              <a:cs typeface="Arial"/>
            </a:endParaRPr>
          </a:p>
          <a:p>
            <a:r>
              <a:rPr lang="en-GB">
                <a:cs typeface="Arial"/>
              </a:rPr>
              <a:t>The next power point is a video showing you that it works. </a:t>
            </a:r>
          </a:p>
        </p:txBody>
      </p:sp>
    </p:spTree>
    <p:extLst>
      <p:ext uri="{BB962C8B-B14F-4D97-AF65-F5344CB8AC3E}">
        <p14:creationId xmlns:p14="http://schemas.microsoft.com/office/powerpoint/2010/main" val="2576839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creen Recording 2026-10-22 150857">
            <a:hlinkClick r:id="" action="ppaction://media"/>
            <a:extLst>
              <a:ext uri="{FF2B5EF4-FFF2-40B4-BE49-F238E27FC236}">
                <a16:creationId xmlns:a16="http://schemas.microsoft.com/office/drawing/2014/main" id="{070E3812-B09A-2801-87BD-E8174235882A}"/>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4989" y="2969"/>
            <a:ext cx="11320854" cy="6852061"/>
          </a:xfrm>
          <a:prstGeom prst="rect">
            <a:avLst/>
          </a:prstGeom>
        </p:spPr>
      </p:pic>
    </p:spTree>
    <p:extLst>
      <p:ext uri="{BB962C8B-B14F-4D97-AF65-F5344CB8AC3E}">
        <p14:creationId xmlns:p14="http://schemas.microsoft.com/office/powerpoint/2010/main" val="2570822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908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3DBBA26C-89C3-411F-9753-606A413F89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37" name="Picture 36">
            <a:extLst>
              <a:ext uri="{FF2B5EF4-FFF2-40B4-BE49-F238E27FC236}">
                <a16:creationId xmlns:a16="http://schemas.microsoft.com/office/drawing/2014/main" id="{EEAD2215-6311-4D1C-B6B5-F57CB6BFCBC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39" name="Rectangle 38">
            <a:extLst>
              <a:ext uri="{FF2B5EF4-FFF2-40B4-BE49-F238E27FC236}">
                <a16:creationId xmlns:a16="http://schemas.microsoft.com/office/drawing/2014/main" id="{7BA5DE79-30D1-4A10-8DB9-0A6E523A97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41" name="Rectangle 40">
            <a:extLst>
              <a:ext uri="{FF2B5EF4-FFF2-40B4-BE49-F238E27FC236}">
                <a16:creationId xmlns:a16="http://schemas.microsoft.com/office/drawing/2014/main" id="{9ABD0D63-D23F-4AE7-8270-4185EF9C1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43" name="Rectangle 42">
            <a:extLst>
              <a:ext uri="{FF2B5EF4-FFF2-40B4-BE49-F238E27FC236}">
                <a16:creationId xmlns:a16="http://schemas.microsoft.com/office/drawing/2014/main" id="{72168E9E-94E9-4BE3-B88C-C8A4681177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45" name="Rectangle 44">
            <a:extLst>
              <a:ext uri="{FF2B5EF4-FFF2-40B4-BE49-F238E27FC236}">
                <a16:creationId xmlns:a16="http://schemas.microsoft.com/office/drawing/2014/main" id="{12107AC1-AA0D-4097-B03D-FD3C632AB8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47" name="TextBox 46">
            <a:extLst>
              <a:ext uri="{FF2B5EF4-FFF2-40B4-BE49-F238E27FC236}">
                <a16:creationId xmlns:a16="http://schemas.microsoft.com/office/drawing/2014/main" id="{7C8D231A-EC46-4736-B00F-76D307082204}"/>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282" y="3262852"/>
            <a:ext cx="415636" cy="461665"/>
          </a:xfrm>
          <a:prstGeom prst="rect">
            <a:avLst/>
          </a:prstGeom>
          <a:noFill/>
        </p:spPr>
        <p:txBody>
          <a:bodyPr wrap="square" rtlCol="0">
            <a:spAutoFit/>
          </a:bodyPr>
          <a:lstStyle/>
          <a:p>
            <a:pPr algn="r">
              <a:spcAft>
                <a:spcPts val="600"/>
              </a:spcAft>
            </a:pPr>
            <a:r>
              <a:rPr lang="en-US" sz="2400">
                <a:solidFill>
                  <a:schemeClr val="accent6"/>
                </a:solidFill>
                <a:latin typeface="Wingdings 3" panose="05040102010807070707" pitchFamily="18" charset="2"/>
              </a:rPr>
              <a:t>z</a:t>
            </a:r>
            <a:endParaRPr lang="en-US" sz="2400">
              <a:solidFill>
                <a:schemeClr val="accent6"/>
              </a:solidFill>
              <a:latin typeface="MS Shell Dlg 2" panose="020B0604030504040204" pitchFamily="34" charset="0"/>
            </a:endParaRPr>
          </a:p>
        </p:txBody>
      </p:sp>
      <p:sp useBgFill="1">
        <p:nvSpPr>
          <p:cNvPr id="49" name="Rectangle 48">
            <a:extLst>
              <a:ext uri="{FF2B5EF4-FFF2-40B4-BE49-F238E27FC236}">
                <a16:creationId xmlns:a16="http://schemas.microsoft.com/office/drawing/2014/main" id="{92806DFD-E192-42CC-B190-3C4C95B8FF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9867"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558A0B6A-DEC0-46AC-8D12-B6E45FCD1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33" y="0"/>
            <a:ext cx="12189867" cy="6858001"/>
          </a:xfrm>
          <a:prstGeom prst="rect">
            <a:avLst/>
          </a:prstGeom>
          <a:solidFill>
            <a:schemeClr val="tx2">
              <a:alpha val="1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52">
            <a:extLst>
              <a:ext uri="{FF2B5EF4-FFF2-40B4-BE49-F238E27FC236}">
                <a16:creationId xmlns:a16="http://schemas.microsoft.com/office/drawing/2014/main" id="{8C1A506D-EB69-4549-9782-F0EBB2A9AE9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sp>
        <p:nvSpPr>
          <p:cNvPr id="2" name="Title 1">
            <a:extLst>
              <a:ext uri="{FF2B5EF4-FFF2-40B4-BE49-F238E27FC236}">
                <a16:creationId xmlns:a16="http://schemas.microsoft.com/office/drawing/2014/main" id="{7661842C-3ED0-EC83-14FF-7D19C9CB013F}"/>
              </a:ext>
            </a:extLst>
          </p:cNvPr>
          <p:cNvSpPr>
            <a:spLocks noGrp="1"/>
          </p:cNvSpPr>
          <p:nvPr>
            <p:ph type="title"/>
          </p:nvPr>
        </p:nvSpPr>
        <p:spPr>
          <a:xfrm>
            <a:off x="2141744" y="1437783"/>
            <a:ext cx="7908513" cy="2495051"/>
          </a:xfrm>
        </p:spPr>
        <p:txBody>
          <a:bodyPr vert="horz" lIns="91440" tIns="45720" rIns="91440" bIns="45720" rtlCol="0" anchor="b">
            <a:normAutofit/>
          </a:bodyPr>
          <a:lstStyle/>
          <a:p>
            <a:pPr algn="ctr"/>
            <a:r>
              <a:rPr lang="en-US" sz="3600"/>
              <a:t>Mini Project 3: </a:t>
            </a:r>
            <a:br>
              <a:rPr lang="en-US" sz="3600"/>
            </a:br>
            <a:r>
              <a:rPr lang="en-US" sz="3600" err="1"/>
              <a:t>NorthWest</a:t>
            </a:r>
            <a:r>
              <a:rPr lang="en-US" sz="3600"/>
              <a:t> Architecture Studio </a:t>
            </a:r>
            <a:br>
              <a:rPr lang="en-US" sz="3600"/>
            </a:br>
            <a:r>
              <a:rPr lang="en-US" sz="3600"/>
              <a:t>Network  </a:t>
            </a:r>
          </a:p>
        </p:txBody>
      </p:sp>
    </p:spTree>
    <p:extLst>
      <p:ext uri="{BB962C8B-B14F-4D97-AF65-F5344CB8AC3E}">
        <p14:creationId xmlns:p14="http://schemas.microsoft.com/office/powerpoint/2010/main" val="2459009588"/>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6826B32F-59F8-0818-6A19-B48435FCF006}"/>
            </a:ext>
          </a:extLst>
        </p:cNvPr>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B9EEB229-3EBA-4333-B94C-ED62EC101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B4666C73-1C44-4BD3-9529-A7E02C6A8AD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76" name="Picture 75">
            <a:extLst>
              <a:ext uri="{FF2B5EF4-FFF2-40B4-BE49-F238E27FC236}">
                <a16:creationId xmlns:a16="http://schemas.microsoft.com/office/drawing/2014/main" id="{723E4E2F-EA2E-477B-A595-C5A5F62E93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77" name="Rectangle 76">
            <a:extLst>
              <a:ext uri="{FF2B5EF4-FFF2-40B4-BE49-F238E27FC236}">
                <a16:creationId xmlns:a16="http://schemas.microsoft.com/office/drawing/2014/main" id="{B6500FA0-D185-45FF-9F47-EF5FB71580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7273825F-243F-467C-8349-B97E81C3E6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255659AF-6F61-42EF-B761-0862A79DBE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8B3CA-D5DF-F72E-EB52-DDA1AF859276}"/>
              </a:ext>
            </a:extLst>
          </p:cNvPr>
          <p:cNvSpPr>
            <a:spLocks noGrp="1"/>
          </p:cNvSpPr>
          <p:nvPr>
            <p:ph type="title"/>
          </p:nvPr>
        </p:nvSpPr>
        <p:spPr>
          <a:xfrm>
            <a:off x="1969804" y="808056"/>
            <a:ext cx="3969504" cy="1077229"/>
          </a:xfrm>
        </p:spPr>
        <p:txBody>
          <a:bodyPr>
            <a:normAutofit/>
          </a:bodyPr>
          <a:lstStyle/>
          <a:p>
            <a:pPr algn="l"/>
            <a:r>
              <a:rPr lang="en-GB" sz="1600">
                <a:latin typeface="Calibri"/>
                <a:ea typeface="Calibri"/>
                <a:cs typeface="Calibri"/>
              </a:rPr>
              <a:t>The Brief: Northwest architecture Studios  has asked to model a working LAN and a connection to a external cloud/ISP</a:t>
            </a:r>
            <a:endParaRPr lang="en-US" sz="1600" b="1">
              <a:latin typeface="Calibri"/>
              <a:ea typeface="Calibri"/>
              <a:cs typeface="Calibri"/>
            </a:endParaRPr>
          </a:p>
        </p:txBody>
      </p:sp>
      <p:pic>
        <p:nvPicPr>
          <p:cNvPr id="7" name="Picture 6">
            <a:extLst>
              <a:ext uri="{FF2B5EF4-FFF2-40B4-BE49-F238E27FC236}">
                <a16:creationId xmlns:a16="http://schemas.microsoft.com/office/drawing/2014/main" id="{7F08C852-7B05-770F-C944-DB50966A6749}"/>
              </a:ext>
            </a:extLst>
          </p:cNvPr>
          <p:cNvPicPr>
            <a:picLocks noChangeAspect="1"/>
          </p:cNvPicPr>
          <p:nvPr/>
        </p:nvPicPr>
        <p:blipFill>
          <a:blip r:embed="rId5"/>
          <a:stretch>
            <a:fillRect/>
          </a:stretch>
        </p:blipFill>
        <p:spPr>
          <a:xfrm>
            <a:off x="7131006" y="641207"/>
            <a:ext cx="3236141" cy="2621275"/>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4" name="Title 1">
            <a:extLst>
              <a:ext uri="{FF2B5EF4-FFF2-40B4-BE49-F238E27FC236}">
                <a16:creationId xmlns:a16="http://schemas.microsoft.com/office/drawing/2014/main" id="{8414563F-F0CC-50F4-41F7-7B88EBB6E7CD}"/>
              </a:ext>
            </a:extLst>
          </p:cNvPr>
          <p:cNvSpPr txBox="1">
            <a:spLocks/>
          </p:cNvSpPr>
          <p:nvPr/>
        </p:nvSpPr>
        <p:spPr>
          <a:xfrm>
            <a:off x="1560169" y="641225"/>
            <a:ext cx="415636" cy="369332"/>
          </a:xfrm>
          <a:prstGeom prst="rect">
            <a:avLst/>
          </a:prstGeom>
          <a:noFill/>
        </p:spPr>
        <p:txBody>
          <a:bodyPr vert="horz" wrap="square"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spcAft>
                <a:spcPts val="600"/>
              </a:spcAft>
            </a:pPr>
            <a:r>
              <a:rPr lang="en-GB" sz="600">
                <a:solidFill>
                  <a:schemeClr val="accent6"/>
                </a:solidFill>
                <a:latin typeface="Calibri"/>
                <a:ea typeface="Calibri"/>
                <a:cs typeface="Calibri"/>
              </a:rPr>
              <a:t>The problem:</a:t>
            </a:r>
            <a:endParaRPr lang="en-US" sz="600" b="1">
              <a:solidFill>
                <a:schemeClr val="accent6"/>
              </a:solidFill>
              <a:latin typeface="Calibri"/>
              <a:ea typeface="Calibri"/>
              <a:cs typeface="Calibri"/>
            </a:endParaRPr>
          </a:p>
        </p:txBody>
      </p:sp>
      <p:sp>
        <p:nvSpPr>
          <p:cNvPr id="80" name="Rectangle 79">
            <a:extLst>
              <a:ext uri="{FF2B5EF4-FFF2-40B4-BE49-F238E27FC236}">
                <a16:creationId xmlns:a16="http://schemas.microsoft.com/office/drawing/2014/main" id="{00650157-038B-4377-BAFA-B12FF57E01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FACD3043-720F-254D-D935-558A1D60DC76}"/>
              </a:ext>
            </a:extLst>
          </p:cNvPr>
          <p:cNvGraphicFramePr>
            <a:graphicFrameLocks noGrp="1"/>
          </p:cNvGraphicFramePr>
          <p:nvPr>
            <p:ph idx="1"/>
            <p:extLst>
              <p:ext uri="{D42A27DB-BD31-4B8C-83A1-F6EECF244321}">
                <p14:modId xmlns:p14="http://schemas.microsoft.com/office/powerpoint/2010/main" val="4052246504"/>
              </p:ext>
            </p:extLst>
          </p:nvPr>
        </p:nvGraphicFramePr>
        <p:xfrm>
          <a:off x="1969803" y="2052116"/>
          <a:ext cx="3969505" cy="3997828"/>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939897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C992EA81-A501-5C5D-8A08-2B835F3B66F7}"/>
              </a:ext>
            </a:extLst>
          </p:cNvPr>
          <p:cNvSpPr>
            <a:spLocks noGrp="1"/>
          </p:cNvSpPr>
          <p:nvPr>
            <p:ph type="title"/>
          </p:nvPr>
        </p:nvSpPr>
        <p:spPr>
          <a:xfrm>
            <a:off x="1593669" y="805817"/>
            <a:ext cx="8967188" cy="1081705"/>
          </a:xfrm>
        </p:spPr>
        <p:txBody>
          <a:bodyPr/>
          <a:lstStyle/>
          <a:p>
            <a:pPr algn="l"/>
            <a:r>
              <a:rPr lang="en-GB"/>
              <a:t>Tested that it can run on local intranet</a:t>
            </a:r>
          </a:p>
        </p:txBody>
      </p:sp>
      <p:pic>
        <p:nvPicPr>
          <p:cNvPr id="37" name="Content Placeholder 36">
            <a:extLst>
              <a:ext uri="{FF2B5EF4-FFF2-40B4-BE49-F238E27FC236}">
                <a16:creationId xmlns:a16="http://schemas.microsoft.com/office/drawing/2014/main" id="{2E624AA2-63A7-6653-7101-5937A591A66C}"/>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2850374" y="2052638"/>
            <a:ext cx="3401978" cy="3997325"/>
          </a:xfrm>
          <a:prstGeom prst="rect">
            <a:avLst/>
          </a:prstGeom>
        </p:spPr>
      </p:pic>
      <p:pic>
        <p:nvPicPr>
          <p:cNvPr id="39" name="Content Placeholder 38">
            <a:extLst>
              <a:ext uri="{FF2B5EF4-FFF2-40B4-BE49-F238E27FC236}">
                <a16:creationId xmlns:a16="http://schemas.microsoft.com/office/drawing/2014/main" id="{36CCFC05-56B8-A961-CEB2-91EF596DD5D1}"/>
              </a:ext>
            </a:extLst>
          </p:cNvPr>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6665913" y="2478245"/>
            <a:ext cx="3895725" cy="3146110"/>
          </a:xfrm>
          <a:prstGeom prst="rect">
            <a:avLst/>
          </a:prstGeom>
        </p:spPr>
      </p:pic>
    </p:spTree>
    <p:extLst>
      <p:ext uri="{BB962C8B-B14F-4D97-AF65-F5344CB8AC3E}">
        <p14:creationId xmlns:p14="http://schemas.microsoft.com/office/powerpoint/2010/main" val="3144051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36D18-1802-F6E6-B08B-81226BD87AC7}"/>
              </a:ext>
            </a:extLst>
          </p:cNvPr>
          <p:cNvSpPr>
            <a:spLocks noGrp="1"/>
          </p:cNvSpPr>
          <p:nvPr>
            <p:ph type="title"/>
          </p:nvPr>
        </p:nvSpPr>
        <p:spPr>
          <a:xfrm>
            <a:off x="1105459" y="1281422"/>
            <a:ext cx="7958331" cy="1077229"/>
          </a:xfrm>
        </p:spPr>
        <p:txBody>
          <a:bodyPr>
            <a:normAutofit/>
          </a:bodyPr>
          <a:lstStyle/>
          <a:p>
            <a:pPr marL="285750" indent="-285750" algn="l">
              <a:buFont typeface="Arial" panose="020B0604020202020204" pitchFamily="34" charset="0"/>
              <a:buChar char="•"/>
            </a:pPr>
            <a:r>
              <a:rPr lang="en-GB" sz="1400"/>
              <a:t>Made sure the computer can connect to the office server and</a:t>
            </a:r>
            <a:br>
              <a:rPr lang="en-GB" sz="1400"/>
            </a:br>
            <a:r>
              <a:rPr lang="en-GB" sz="1400"/>
              <a:t> display a page from the intranet</a:t>
            </a:r>
          </a:p>
        </p:txBody>
      </p:sp>
      <p:pic>
        <p:nvPicPr>
          <p:cNvPr id="4" name="Picture 3">
            <a:extLst>
              <a:ext uri="{FF2B5EF4-FFF2-40B4-BE49-F238E27FC236}">
                <a16:creationId xmlns:a16="http://schemas.microsoft.com/office/drawing/2014/main" id="{787B9EE7-EB26-3D8A-CD5D-A21DCA350F7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30048" y="1035301"/>
            <a:ext cx="2598159" cy="2098222"/>
          </a:xfrm>
          <a:prstGeom prst="rect">
            <a:avLst/>
          </a:prstGeom>
        </p:spPr>
      </p:pic>
      <p:sp>
        <p:nvSpPr>
          <p:cNvPr id="5" name="Title 1">
            <a:extLst>
              <a:ext uri="{FF2B5EF4-FFF2-40B4-BE49-F238E27FC236}">
                <a16:creationId xmlns:a16="http://schemas.microsoft.com/office/drawing/2014/main" id="{BD1DC1E5-A02F-DC0F-76F7-E98B45EF7166}"/>
              </a:ext>
            </a:extLst>
          </p:cNvPr>
          <p:cNvSpPr txBox="1">
            <a:spLocks/>
          </p:cNvSpPr>
          <p:nvPr/>
        </p:nvSpPr>
        <p:spPr>
          <a:xfrm>
            <a:off x="1105459" y="3422121"/>
            <a:ext cx="7958331" cy="1077229"/>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marL="285750" indent="-285750" algn="l">
              <a:buFont typeface="Arial" panose="020B0604020202020204" pitchFamily="34" charset="0"/>
              <a:buChar char="•"/>
            </a:pPr>
            <a:r>
              <a:rPr lang="en-GB" sz="1400"/>
              <a:t>Tested that the computers can talk to each other to make sure </a:t>
            </a:r>
          </a:p>
          <a:p>
            <a:pPr algn="l"/>
            <a:r>
              <a:rPr lang="en-GB" sz="1400"/>
              <a:t>      the computers can communicate with each other</a:t>
            </a:r>
          </a:p>
        </p:txBody>
      </p:sp>
      <p:sp>
        <p:nvSpPr>
          <p:cNvPr id="6" name="Title 1">
            <a:extLst>
              <a:ext uri="{FF2B5EF4-FFF2-40B4-BE49-F238E27FC236}">
                <a16:creationId xmlns:a16="http://schemas.microsoft.com/office/drawing/2014/main" id="{454FB57F-6721-B36A-121D-246216B71D33}"/>
              </a:ext>
            </a:extLst>
          </p:cNvPr>
          <p:cNvSpPr txBox="1">
            <a:spLocks/>
          </p:cNvSpPr>
          <p:nvPr/>
        </p:nvSpPr>
        <p:spPr>
          <a:xfrm>
            <a:off x="1105459" y="5209630"/>
            <a:ext cx="7958331" cy="1077229"/>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marL="285750" indent="-285750" algn="l">
              <a:buFont typeface="Arial" panose="020B0604020202020204" pitchFamily="34" charset="0"/>
              <a:buChar char="•"/>
            </a:pPr>
            <a:r>
              <a:rPr lang="en-GB" sz="1400"/>
              <a:t>Checked connection to the DNS Server</a:t>
            </a:r>
          </a:p>
        </p:txBody>
      </p:sp>
      <p:pic>
        <p:nvPicPr>
          <p:cNvPr id="8" name="Picture 7">
            <a:extLst>
              <a:ext uri="{FF2B5EF4-FFF2-40B4-BE49-F238E27FC236}">
                <a16:creationId xmlns:a16="http://schemas.microsoft.com/office/drawing/2014/main" id="{DF936B1E-293F-429A-9D90-C2F68A54F9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11439" y="3300752"/>
            <a:ext cx="2797052" cy="1660749"/>
          </a:xfrm>
          <a:prstGeom prst="rect">
            <a:avLst/>
          </a:prstGeom>
        </p:spPr>
      </p:pic>
      <p:pic>
        <p:nvPicPr>
          <p:cNvPr id="10" name="Picture 9">
            <a:extLst>
              <a:ext uri="{FF2B5EF4-FFF2-40B4-BE49-F238E27FC236}">
                <a16:creationId xmlns:a16="http://schemas.microsoft.com/office/drawing/2014/main" id="{DE1A175B-B3F4-1338-372E-6B17B2C8E7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81793" y="5071617"/>
            <a:ext cx="2075986" cy="1775340"/>
          </a:xfrm>
          <a:prstGeom prst="rect">
            <a:avLst/>
          </a:prstGeom>
        </p:spPr>
      </p:pic>
      <p:sp>
        <p:nvSpPr>
          <p:cNvPr id="17" name="Title 16">
            <a:extLst>
              <a:ext uri="{FF2B5EF4-FFF2-40B4-BE49-F238E27FC236}">
                <a16:creationId xmlns:a16="http://schemas.microsoft.com/office/drawing/2014/main" id="{DE57C4B0-0DA3-9D58-1B1F-06E85CE7830C}"/>
              </a:ext>
            </a:extLst>
          </p:cNvPr>
          <p:cNvSpPr txBox="1">
            <a:spLocks/>
          </p:cNvSpPr>
          <p:nvPr/>
        </p:nvSpPr>
        <p:spPr>
          <a:xfrm>
            <a:off x="1424694" y="374919"/>
            <a:ext cx="7639096" cy="489963"/>
          </a:xfrm>
          <a:prstGeom prst="rect">
            <a:avLst/>
          </a:prstGeom>
        </p:spPr>
        <p:txBody>
          <a:bodyPr vert="horz" lIns="91440" tIns="45720" rIns="91440" bIns="45720" rtlCol="0" anchor="t">
            <a:normAutofit fontScale="47500" lnSpcReduction="200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GB" b="1"/>
              <a:t>We ran numerous tests to make sure the network worked according to the brief</a:t>
            </a:r>
          </a:p>
        </p:txBody>
      </p:sp>
      <p:pic>
        <p:nvPicPr>
          <p:cNvPr id="11" name="Content Placeholder 36">
            <a:extLst>
              <a:ext uri="{FF2B5EF4-FFF2-40B4-BE49-F238E27FC236}">
                <a16:creationId xmlns:a16="http://schemas.microsoft.com/office/drawing/2014/main" id="{C609C2FB-EF2B-7072-CE6D-0E8FD5EEEB3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063790" y="972229"/>
            <a:ext cx="1893076" cy="2224365"/>
          </a:xfrm>
          <a:prstGeom prst="rect">
            <a:avLst/>
          </a:prstGeom>
        </p:spPr>
      </p:pic>
    </p:spTree>
    <p:extLst>
      <p:ext uri="{BB962C8B-B14F-4D97-AF65-F5344CB8AC3E}">
        <p14:creationId xmlns:p14="http://schemas.microsoft.com/office/powerpoint/2010/main" val="1183250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p:nvSpPr>
          <p:cNvPr id="46" name="Title 45">
            <a:extLst>
              <a:ext uri="{FF2B5EF4-FFF2-40B4-BE49-F238E27FC236}">
                <a16:creationId xmlns:a16="http://schemas.microsoft.com/office/drawing/2014/main" id="{279C65B5-DB01-DBB6-5581-A9789BC18889}"/>
              </a:ext>
            </a:extLst>
          </p:cNvPr>
          <p:cNvSpPr>
            <a:spLocks noGrp="1"/>
          </p:cNvSpPr>
          <p:nvPr>
            <p:ph type="title"/>
          </p:nvPr>
        </p:nvSpPr>
        <p:spPr>
          <a:xfrm>
            <a:off x="1456776" y="326793"/>
            <a:ext cx="7958331" cy="1077229"/>
          </a:xfrm>
        </p:spPr>
        <p:txBody>
          <a:bodyPr>
            <a:normAutofit/>
          </a:bodyPr>
          <a:lstStyle/>
          <a:p>
            <a:pPr algn="l"/>
            <a:r>
              <a:rPr lang="en-GB" sz="1900"/>
              <a:t>Configured the devices so that they can communicate with the ISP</a:t>
            </a:r>
          </a:p>
        </p:txBody>
      </p:sp>
      <p:pic>
        <p:nvPicPr>
          <p:cNvPr id="48" name="Picture 47">
            <a:extLst>
              <a:ext uri="{FF2B5EF4-FFF2-40B4-BE49-F238E27FC236}">
                <a16:creationId xmlns:a16="http://schemas.microsoft.com/office/drawing/2014/main" id="{819B01BC-733C-77CB-C00D-734E8F1DE43E}"/>
              </a:ext>
            </a:extLst>
          </p:cNvPr>
          <p:cNvPicPr>
            <a:picLocks noChangeAspect="1"/>
          </p:cNvPicPr>
          <p:nvPr/>
        </p:nvPicPr>
        <p:blipFill>
          <a:blip r:embed="rId3"/>
          <a:stretch>
            <a:fillRect/>
          </a:stretch>
        </p:blipFill>
        <p:spPr>
          <a:xfrm>
            <a:off x="1171715" y="1046757"/>
            <a:ext cx="9850780" cy="1346544"/>
          </a:xfrm>
          <a:prstGeom prst="rect">
            <a:avLst/>
          </a:prstGeom>
        </p:spPr>
      </p:pic>
      <p:sp>
        <p:nvSpPr>
          <p:cNvPr id="3" name="Title 45">
            <a:extLst>
              <a:ext uri="{FF2B5EF4-FFF2-40B4-BE49-F238E27FC236}">
                <a16:creationId xmlns:a16="http://schemas.microsoft.com/office/drawing/2014/main" id="{75CFF4F8-4715-5FE2-D492-3175F7D2782F}"/>
              </a:ext>
            </a:extLst>
          </p:cNvPr>
          <p:cNvSpPr txBox="1">
            <a:spLocks/>
          </p:cNvSpPr>
          <p:nvPr/>
        </p:nvSpPr>
        <p:spPr>
          <a:xfrm>
            <a:off x="1456776" y="2727093"/>
            <a:ext cx="7958331" cy="1077229"/>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GB" sz="1900"/>
              <a:t>Configured DNS Server:</a:t>
            </a:r>
            <a:endParaRPr lang="en-US"/>
          </a:p>
        </p:txBody>
      </p:sp>
      <p:pic>
        <p:nvPicPr>
          <p:cNvPr id="4" name="Picture 3">
            <a:extLst>
              <a:ext uri="{FF2B5EF4-FFF2-40B4-BE49-F238E27FC236}">
                <a16:creationId xmlns:a16="http://schemas.microsoft.com/office/drawing/2014/main" id="{CC17430F-BF15-95D1-069D-358D47341C6C}"/>
              </a:ext>
            </a:extLst>
          </p:cNvPr>
          <p:cNvPicPr>
            <a:picLocks noChangeAspect="1"/>
          </p:cNvPicPr>
          <p:nvPr/>
        </p:nvPicPr>
        <p:blipFill>
          <a:blip r:embed="rId4"/>
          <a:stretch>
            <a:fillRect/>
          </a:stretch>
        </p:blipFill>
        <p:spPr>
          <a:xfrm>
            <a:off x="1176890" y="3429827"/>
            <a:ext cx="3841612" cy="2924866"/>
          </a:xfrm>
          <a:prstGeom prst="rect">
            <a:avLst/>
          </a:prstGeom>
        </p:spPr>
      </p:pic>
      <p:pic>
        <p:nvPicPr>
          <p:cNvPr id="5" name="Picture 4" descr="A white background with black text&#10;&#10;AI-generated content may be incorrect.">
            <a:extLst>
              <a:ext uri="{FF2B5EF4-FFF2-40B4-BE49-F238E27FC236}">
                <a16:creationId xmlns:a16="http://schemas.microsoft.com/office/drawing/2014/main" id="{7EBD6A41-2C70-54A7-F937-89234A2FE571}"/>
              </a:ext>
            </a:extLst>
          </p:cNvPr>
          <p:cNvPicPr>
            <a:picLocks noChangeAspect="1"/>
          </p:cNvPicPr>
          <p:nvPr/>
        </p:nvPicPr>
        <p:blipFill>
          <a:blip r:embed="rId5"/>
          <a:stretch>
            <a:fillRect/>
          </a:stretch>
        </p:blipFill>
        <p:spPr>
          <a:xfrm>
            <a:off x="5557549" y="3423805"/>
            <a:ext cx="5060084" cy="2931391"/>
          </a:xfrm>
          <a:prstGeom prst="rect">
            <a:avLst/>
          </a:prstGeom>
        </p:spPr>
      </p:pic>
      <p:sp>
        <p:nvSpPr>
          <p:cNvPr id="6" name="Title 45">
            <a:extLst>
              <a:ext uri="{FF2B5EF4-FFF2-40B4-BE49-F238E27FC236}">
                <a16:creationId xmlns:a16="http://schemas.microsoft.com/office/drawing/2014/main" id="{82994888-EEB3-2B62-4673-3F5B50E833C6}"/>
              </a:ext>
            </a:extLst>
          </p:cNvPr>
          <p:cNvSpPr txBox="1">
            <a:spLocks/>
          </p:cNvSpPr>
          <p:nvPr/>
        </p:nvSpPr>
        <p:spPr>
          <a:xfrm>
            <a:off x="5438451" y="2711029"/>
            <a:ext cx="7958331" cy="1077229"/>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GB" sz="1900"/>
              <a:t>Created a page using HTML to test the cloud </a:t>
            </a:r>
            <a:endParaRPr lang="en-US"/>
          </a:p>
          <a:p>
            <a:pPr algn="l"/>
            <a:r>
              <a:rPr lang="en-GB" sz="1900"/>
              <a:t>and intranet servers</a:t>
            </a:r>
            <a:endParaRPr lang="en-GB"/>
          </a:p>
        </p:txBody>
      </p:sp>
    </p:spTree>
    <p:extLst>
      <p:ext uri="{BB962C8B-B14F-4D97-AF65-F5344CB8AC3E}">
        <p14:creationId xmlns:p14="http://schemas.microsoft.com/office/powerpoint/2010/main" val="1158320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6F132-E25B-CD43-1755-1180AC47A426}"/>
              </a:ext>
            </a:extLst>
          </p:cNvPr>
          <p:cNvSpPr>
            <a:spLocks noGrp="1"/>
          </p:cNvSpPr>
          <p:nvPr>
            <p:ph type="title"/>
          </p:nvPr>
        </p:nvSpPr>
        <p:spPr/>
        <p:txBody>
          <a:bodyPr/>
          <a:lstStyle/>
          <a:p>
            <a:r>
              <a:rPr lang="en-GB" sz="2900">
                <a:latin typeface="Calibri"/>
                <a:ea typeface="Calibri"/>
                <a:cs typeface="Calibri"/>
              </a:rPr>
              <a:t>Mini Project 4: Cyber-Security Awareness</a:t>
            </a:r>
            <a:endParaRPr lang="en-US"/>
          </a:p>
        </p:txBody>
      </p:sp>
    </p:spTree>
    <p:extLst>
      <p:ext uri="{BB962C8B-B14F-4D97-AF65-F5344CB8AC3E}">
        <p14:creationId xmlns:p14="http://schemas.microsoft.com/office/powerpoint/2010/main" val="1298159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a:extLst>
            <a:ext uri="{FF2B5EF4-FFF2-40B4-BE49-F238E27FC236}">
              <a16:creationId xmlns:a16="http://schemas.microsoft.com/office/drawing/2014/main" id="{6F2E7B14-2F7A-D489-BDC2-DC8B6300244C}"/>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126045A8-4AD7-4DA0-98E5-F952396581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a:extLst>
              <a:ext uri="{FF2B5EF4-FFF2-40B4-BE49-F238E27FC236}">
                <a16:creationId xmlns:a16="http://schemas.microsoft.com/office/drawing/2014/main" id="{8DF3397A-8FC4-460C-B00D-73A00715346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36" name="Picture 35">
            <a:extLst>
              <a:ext uri="{FF2B5EF4-FFF2-40B4-BE49-F238E27FC236}">
                <a16:creationId xmlns:a16="http://schemas.microsoft.com/office/drawing/2014/main" id="{FB28E586-D2CD-495E-B343-43BDCDD55E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37" name="Rectangle 36">
            <a:extLst>
              <a:ext uri="{FF2B5EF4-FFF2-40B4-BE49-F238E27FC236}">
                <a16:creationId xmlns:a16="http://schemas.microsoft.com/office/drawing/2014/main" id="{B71C2D3E-160D-48B7-85C5-FF97CD636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8804555F-5872-4752-9615-6B458E89B3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76B4E8F0-039F-4127-B2B2-5B2A489D84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35CAD6-6F84-BB94-677C-25B31F86D80B}"/>
              </a:ext>
            </a:extLst>
          </p:cNvPr>
          <p:cNvSpPr>
            <a:spLocks noGrp="1"/>
          </p:cNvSpPr>
          <p:nvPr>
            <p:ph type="title"/>
          </p:nvPr>
        </p:nvSpPr>
        <p:spPr>
          <a:xfrm>
            <a:off x="1092349" y="103783"/>
            <a:ext cx="3480226" cy="1077229"/>
          </a:xfrm>
        </p:spPr>
        <p:txBody>
          <a:bodyPr>
            <a:normAutofit/>
          </a:bodyPr>
          <a:lstStyle/>
          <a:p>
            <a:pPr algn="l"/>
            <a:r>
              <a:rPr lang="en-GB" sz="2900">
                <a:latin typeface="Calibri"/>
                <a:ea typeface="Calibri"/>
                <a:cs typeface="Calibri"/>
              </a:rPr>
              <a:t>Mini Project 4: Cyber-Security Awareness  </a:t>
            </a:r>
            <a:endParaRPr lang="en-US" sz="2900">
              <a:latin typeface="Calibri"/>
              <a:ea typeface="Calibri"/>
              <a:cs typeface="Calibri"/>
            </a:endParaRPr>
          </a:p>
        </p:txBody>
      </p:sp>
      <p:sp>
        <p:nvSpPr>
          <p:cNvPr id="40" name="Content Placeholder 2">
            <a:extLst>
              <a:ext uri="{FF2B5EF4-FFF2-40B4-BE49-F238E27FC236}">
                <a16:creationId xmlns:a16="http://schemas.microsoft.com/office/drawing/2014/main" id="{EBB92B76-C73D-CA0B-1F6E-3AE24A483507}"/>
              </a:ext>
            </a:extLst>
          </p:cNvPr>
          <p:cNvSpPr>
            <a:spLocks noGrp="1"/>
          </p:cNvSpPr>
          <p:nvPr>
            <p:ph idx="1"/>
          </p:nvPr>
        </p:nvSpPr>
        <p:spPr>
          <a:xfrm>
            <a:off x="1086805" y="978389"/>
            <a:ext cx="5113679" cy="5637282"/>
          </a:xfrm>
        </p:spPr>
        <p:txBody>
          <a:bodyPr vert="horz" lIns="91440" tIns="45720" rIns="91440" bIns="45720" rtlCol="0">
            <a:normAutofit/>
          </a:bodyPr>
          <a:lstStyle/>
          <a:p>
            <a:pPr marL="0" indent="0">
              <a:lnSpc>
                <a:spcPct val="110000"/>
              </a:lnSpc>
              <a:buNone/>
            </a:pPr>
            <a:r>
              <a:rPr lang="en-GB" sz="1200" b="1">
                <a:cs typeface="Arial" panose="020B0604020202020204"/>
              </a:rPr>
              <a:t>We was asked to do some researches on cybersecurity regarding certain topics, we was asked to explain why cybersecurity awareness matters and how we can possibly stop it from happening. The topics which we was asked to research are one of the main and high risks within cybersecurity. The topics we was asked to research are: </a:t>
            </a:r>
          </a:p>
          <a:p>
            <a:pPr marL="0" indent="0">
              <a:lnSpc>
                <a:spcPct val="110000"/>
              </a:lnSpc>
              <a:buNone/>
            </a:pPr>
            <a:r>
              <a:rPr lang="en-GB" sz="1200" b="1">
                <a:cs typeface="Arial" panose="020B0604020202020204"/>
              </a:rPr>
              <a:t>1.) Password hygiene. </a:t>
            </a:r>
            <a:endParaRPr lang="en-US" sz="1200">
              <a:cs typeface="Arial"/>
            </a:endParaRPr>
          </a:p>
          <a:p>
            <a:pPr marL="0" indent="0">
              <a:lnSpc>
                <a:spcPct val="110000"/>
              </a:lnSpc>
              <a:buNone/>
            </a:pPr>
            <a:r>
              <a:rPr lang="en-GB" sz="1200" b="1">
                <a:cs typeface="Arial" panose="020B0604020202020204"/>
              </a:rPr>
              <a:t>2.) Two factor and multi factor authenticator. </a:t>
            </a:r>
          </a:p>
          <a:p>
            <a:pPr marL="0" indent="0">
              <a:lnSpc>
                <a:spcPct val="110000"/>
              </a:lnSpc>
              <a:buNone/>
            </a:pPr>
            <a:r>
              <a:rPr lang="en-GB" sz="1200" b="1">
                <a:cs typeface="Arial" panose="020B0604020202020204"/>
              </a:rPr>
              <a:t>3.) Phishing. </a:t>
            </a:r>
          </a:p>
          <a:p>
            <a:pPr marL="0" indent="0">
              <a:lnSpc>
                <a:spcPct val="110000"/>
              </a:lnSpc>
              <a:buNone/>
            </a:pPr>
            <a:r>
              <a:rPr lang="en-GB" sz="1200" b="1">
                <a:cs typeface="Arial" panose="020B0604020202020204"/>
              </a:rPr>
              <a:t>4.) Safe use of  devices. </a:t>
            </a:r>
          </a:p>
          <a:p>
            <a:pPr marL="0" indent="0">
              <a:lnSpc>
                <a:spcPct val="110000"/>
              </a:lnSpc>
              <a:buNone/>
            </a:pPr>
            <a:r>
              <a:rPr lang="en-GB" sz="1200" b="1">
                <a:cs typeface="Arial" panose="020B0604020202020204"/>
              </a:rPr>
              <a:t>5.) Safe use of public-</a:t>
            </a:r>
            <a:r>
              <a:rPr lang="en-GB" sz="1200" b="1" err="1">
                <a:cs typeface="Arial" panose="020B0604020202020204"/>
              </a:rPr>
              <a:t>wifi</a:t>
            </a:r>
            <a:r>
              <a:rPr lang="en-GB" sz="1200" b="1">
                <a:cs typeface="Arial" panose="020B0604020202020204"/>
              </a:rPr>
              <a:t>. </a:t>
            </a:r>
          </a:p>
          <a:p>
            <a:pPr marL="0" indent="0">
              <a:lnSpc>
                <a:spcPct val="110000"/>
              </a:lnSpc>
              <a:buNone/>
            </a:pPr>
            <a:r>
              <a:rPr lang="en-GB" sz="1200" b="1">
                <a:cs typeface="Arial" panose="020B0604020202020204"/>
              </a:rPr>
              <a:t>As you can see on the right it shows evidence of our report on the topics provided to us, we have each explained what a topic is , how they are used and how to prevent this from happening to anyone. Also we was asked to add appropriate citations (</a:t>
            </a:r>
            <a:r>
              <a:rPr lang="en-GB" sz="1200" b="1" err="1">
                <a:cs typeface="Arial" panose="020B0604020202020204"/>
              </a:rPr>
              <a:t>harvard</a:t>
            </a:r>
            <a:r>
              <a:rPr lang="en-GB" sz="1200" b="1">
                <a:cs typeface="Arial" panose="020B0604020202020204"/>
              </a:rPr>
              <a:t> </a:t>
            </a:r>
            <a:r>
              <a:rPr lang="en-GB" sz="1200" b="1" err="1">
                <a:cs typeface="Arial" panose="020B0604020202020204"/>
              </a:rPr>
              <a:t>referancing</a:t>
            </a:r>
            <a:r>
              <a:rPr lang="en-GB" sz="1200" b="1">
                <a:cs typeface="Arial" panose="020B0604020202020204"/>
              </a:rPr>
              <a:t>), and as you can see on the right there are example of how and when they are being used in our cybersecurity report . </a:t>
            </a:r>
          </a:p>
          <a:p>
            <a:pPr marL="0" indent="0">
              <a:lnSpc>
                <a:spcPct val="110000"/>
              </a:lnSpc>
              <a:buNone/>
            </a:pPr>
            <a:endParaRPr lang="en-GB" sz="700" b="1">
              <a:cs typeface="Arial" panose="020B0604020202020204"/>
            </a:endParaRPr>
          </a:p>
        </p:txBody>
      </p:sp>
      <p:sp>
        <p:nvSpPr>
          <p:cNvPr id="41" name="Rectangle 40">
            <a:extLst>
              <a:ext uri="{FF2B5EF4-FFF2-40B4-BE49-F238E27FC236}">
                <a16:creationId xmlns:a16="http://schemas.microsoft.com/office/drawing/2014/main" id="{8F285D2F-103F-40D7-9CEC-7BEF43EF80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8007" y="641225"/>
            <a:ext cx="4326061" cy="557024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id="{554C491B-377F-ECFA-3B52-197B6B28461E}"/>
              </a:ext>
            </a:extLst>
          </p:cNvPr>
          <p:cNvPicPr>
            <a:picLocks noChangeAspect="1"/>
          </p:cNvPicPr>
          <p:nvPr/>
        </p:nvPicPr>
        <p:blipFill>
          <a:blip r:embed="rId5"/>
          <a:stretch>
            <a:fillRect/>
          </a:stretch>
        </p:blipFill>
        <p:spPr>
          <a:xfrm>
            <a:off x="6651312" y="4063747"/>
            <a:ext cx="1844350" cy="1816008"/>
          </a:xfrm>
          <a:prstGeom prst="rect">
            <a:avLst/>
          </a:prstGeom>
          <a:ln>
            <a:noFill/>
          </a:ln>
        </p:spPr>
      </p:pic>
      <p:sp>
        <p:nvSpPr>
          <p:cNvPr id="42" name="Rectangle 41">
            <a:extLst>
              <a:ext uri="{FF2B5EF4-FFF2-40B4-BE49-F238E27FC236}">
                <a16:creationId xmlns:a16="http://schemas.microsoft.com/office/drawing/2014/main" id="{8A2F2D9F-81EA-4A54-B8A3-22DDBB1C9F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0900" y="878408"/>
            <a:ext cx="3845909" cy="2957624"/>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screenshot of a computer&#10;&#10;AI-generated content may be incorrect.">
            <a:extLst>
              <a:ext uri="{FF2B5EF4-FFF2-40B4-BE49-F238E27FC236}">
                <a16:creationId xmlns:a16="http://schemas.microsoft.com/office/drawing/2014/main" id="{3475F01B-5380-680B-C97D-46224C5B3128}"/>
              </a:ext>
            </a:extLst>
          </p:cNvPr>
          <p:cNvPicPr>
            <a:picLocks noChangeAspect="1"/>
          </p:cNvPicPr>
          <p:nvPr/>
        </p:nvPicPr>
        <p:blipFill>
          <a:blip r:embed="rId6"/>
          <a:stretch>
            <a:fillRect/>
          </a:stretch>
        </p:blipFill>
        <p:spPr>
          <a:xfrm>
            <a:off x="6791763" y="1339143"/>
            <a:ext cx="3618173" cy="1900197"/>
          </a:xfrm>
          <a:prstGeom prst="rect">
            <a:avLst/>
          </a:prstGeom>
          <a:ln>
            <a:noFill/>
          </a:ln>
        </p:spPr>
      </p:pic>
      <p:sp>
        <p:nvSpPr>
          <p:cNvPr id="43" name="Rectangle 42">
            <a:extLst>
              <a:ext uri="{FF2B5EF4-FFF2-40B4-BE49-F238E27FC236}">
                <a16:creationId xmlns:a16="http://schemas.microsoft.com/office/drawing/2014/main" id="{E7EFFBEF-BC04-4A50-8440-CA1B9F4090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0097" y="3984453"/>
            <a:ext cx="1846538" cy="1977302"/>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screenshot of a computer error&#10;&#10;AI-generated content may be incorrect.">
            <a:extLst>
              <a:ext uri="{FF2B5EF4-FFF2-40B4-BE49-F238E27FC236}">
                <a16:creationId xmlns:a16="http://schemas.microsoft.com/office/drawing/2014/main" id="{6D992D13-0708-120E-0D56-5B775E8A9CDA}"/>
              </a:ext>
            </a:extLst>
          </p:cNvPr>
          <p:cNvPicPr>
            <a:picLocks noChangeAspect="1"/>
          </p:cNvPicPr>
          <p:nvPr/>
        </p:nvPicPr>
        <p:blipFill>
          <a:blip r:embed="rId7"/>
          <a:stretch>
            <a:fillRect/>
          </a:stretch>
        </p:blipFill>
        <p:spPr>
          <a:xfrm>
            <a:off x="8741738" y="4456679"/>
            <a:ext cx="1670597" cy="1048299"/>
          </a:xfrm>
          <a:prstGeom prst="rect">
            <a:avLst/>
          </a:prstGeom>
          <a:ln>
            <a:noFill/>
          </a:ln>
        </p:spPr>
      </p:pic>
      <p:sp>
        <p:nvSpPr>
          <p:cNvPr id="44" name="Rectangle 43">
            <a:extLst>
              <a:ext uri="{FF2B5EF4-FFF2-40B4-BE49-F238E27FC236}">
                <a16:creationId xmlns:a16="http://schemas.microsoft.com/office/drawing/2014/main" id="{288A94C7-FEF1-41DF-8F66-6DD19C9D1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61729" y="3988453"/>
            <a:ext cx="1838867" cy="1979331"/>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D69931A3-4425-4161-90F4-CE1C46B97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87292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7D11D4F-4F6D-445C-BFEB-96F967B218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F2B14849-3056-4040-ACC2-869157C382F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9" name="Picture 18">
            <a:extLst>
              <a:ext uri="{FF2B5EF4-FFF2-40B4-BE49-F238E27FC236}">
                <a16:creationId xmlns:a16="http://schemas.microsoft.com/office/drawing/2014/main" id="{A073F794-406A-4D90-8215-86A90A500A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1" name="Rectangle 20">
            <a:extLst>
              <a:ext uri="{FF2B5EF4-FFF2-40B4-BE49-F238E27FC236}">
                <a16:creationId xmlns:a16="http://schemas.microsoft.com/office/drawing/2014/main" id="{EF6760B4-2A40-4AC2-B1DD-2A870AEB4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7ACBC84-F47E-4B21-A7F3-60566BB76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AE229D4-A955-47B2-82C8-E7459998B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11">
            <a:extLst>
              <a:ext uri="{FF2B5EF4-FFF2-40B4-BE49-F238E27FC236}">
                <a16:creationId xmlns:a16="http://schemas.microsoft.com/office/drawing/2014/main" id="{B3988680-9D0F-EF75-AF14-4473CCD3A53A}"/>
              </a:ext>
            </a:extLst>
          </p:cNvPr>
          <p:cNvSpPr>
            <a:spLocks noGrp="1"/>
          </p:cNvSpPr>
          <p:nvPr>
            <p:ph idx="1"/>
          </p:nvPr>
        </p:nvSpPr>
        <p:spPr>
          <a:xfrm>
            <a:off x="1202444" y="239480"/>
            <a:ext cx="4142035" cy="6387737"/>
          </a:xfrm>
        </p:spPr>
        <p:txBody>
          <a:bodyPr>
            <a:normAutofit/>
          </a:bodyPr>
          <a:lstStyle/>
          <a:p>
            <a:pPr marL="344170" indent="-344170"/>
            <a:r>
              <a:rPr lang="en-US" sz="1800">
                <a:cs typeface="Arial"/>
              </a:rPr>
              <a:t>Over here on this slide you can also see a table was made regarding on what to do and what not to do for making a password to make your account safe and protected. This helps shows how important it is to have a safe password and the requirements for a safe password, the same was also explained for the other topics. </a:t>
            </a:r>
          </a:p>
          <a:p>
            <a:pPr marL="344170" indent="-344170"/>
            <a:r>
              <a:rPr lang="en-US" sz="1800">
                <a:cs typeface="Arial"/>
              </a:rPr>
              <a:t>Also we have provided a sources section at the end of the page, to show where we have gotten our information from. </a:t>
            </a:r>
          </a:p>
        </p:txBody>
      </p:sp>
      <p:sp>
        <p:nvSpPr>
          <p:cNvPr id="27" name="Rectangle 26">
            <a:extLst>
              <a:ext uri="{FF2B5EF4-FFF2-40B4-BE49-F238E27FC236}">
                <a16:creationId xmlns:a16="http://schemas.microsoft.com/office/drawing/2014/main" id="{33FB4B9E-172A-4EA2-8C0E-0F73BFA422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5173" y="0"/>
            <a:ext cx="597992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screenshot of a computer screen&#10;&#10;AI-generated content may be incorrect.">
            <a:extLst>
              <a:ext uri="{FF2B5EF4-FFF2-40B4-BE49-F238E27FC236}">
                <a16:creationId xmlns:a16="http://schemas.microsoft.com/office/drawing/2014/main" id="{BFD0869C-7928-23FD-8203-644B752C883F}"/>
              </a:ext>
            </a:extLst>
          </p:cNvPr>
          <p:cNvPicPr>
            <a:picLocks noChangeAspect="1"/>
          </p:cNvPicPr>
          <p:nvPr/>
        </p:nvPicPr>
        <p:blipFill>
          <a:blip r:embed="rId5"/>
          <a:stretch>
            <a:fillRect/>
          </a:stretch>
        </p:blipFill>
        <p:spPr>
          <a:xfrm>
            <a:off x="5753381" y="468355"/>
            <a:ext cx="5338405" cy="3323156"/>
          </a:xfrm>
          <a:prstGeom prst="rect">
            <a:avLst/>
          </a:prstGeom>
          <a:ln w="12700">
            <a:noFill/>
          </a:ln>
        </p:spPr>
      </p:pic>
      <p:sp>
        <p:nvSpPr>
          <p:cNvPr id="29" name="Rectangle 28">
            <a:extLst>
              <a:ext uri="{FF2B5EF4-FFF2-40B4-BE49-F238E27FC236}">
                <a16:creationId xmlns:a16="http://schemas.microsoft.com/office/drawing/2014/main" id="{0BCDCCAE-697C-485A-B4DD-83B5F912F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3616" y="236477"/>
            <a:ext cx="5497933" cy="3789631"/>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shot of a white and black text&#10;&#10;AI-generated content may be incorrect.">
            <a:extLst>
              <a:ext uri="{FF2B5EF4-FFF2-40B4-BE49-F238E27FC236}">
                <a16:creationId xmlns:a16="http://schemas.microsoft.com/office/drawing/2014/main" id="{5055F673-9AA8-EE87-6255-14D0EBCE4516}"/>
              </a:ext>
            </a:extLst>
          </p:cNvPr>
          <p:cNvPicPr>
            <a:picLocks noChangeAspect="1"/>
          </p:cNvPicPr>
          <p:nvPr/>
        </p:nvPicPr>
        <p:blipFill>
          <a:blip r:embed="rId6"/>
          <a:stretch>
            <a:fillRect/>
          </a:stretch>
        </p:blipFill>
        <p:spPr>
          <a:xfrm>
            <a:off x="5753902" y="4509425"/>
            <a:ext cx="2510368" cy="1776085"/>
          </a:xfrm>
          <a:prstGeom prst="rect">
            <a:avLst/>
          </a:prstGeom>
          <a:ln w="12700">
            <a:noFill/>
          </a:ln>
        </p:spPr>
      </p:pic>
      <p:sp>
        <p:nvSpPr>
          <p:cNvPr id="31" name="Rectangle 30">
            <a:extLst>
              <a:ext uri="{FF2B5EF4-FFF2-40B4-BE49-F238E27FC236}">
                <a16:creationId xmlns:a16="http://schemas.microsoft.com/office/drawing/2014/main" id="{C19B8FE7-E6F0-44D0-AAB7-F7100184B7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3616" y="4183534"/>
            <a:ext cx="2670663" cy="2426299"/>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close-up of a document&#10;&#10;AI-generated content may be incorrect.">
            <a:extLst>
              <a:ext uri="{FF2B5EF4-FFF2-40B4-BE49-F238E27FC236}">
                <a16:creationId xmlns:a16="http://schemas.microsoft.com/office/drawing/2014/main" id="{F6735460-B1AE-E6D4-97F7-C65DCB0EEC44}"/>
              </a:ext>
            </a:extLst>
          </p:cNvPr>
          <p:cNvPicPr>
            <a:picLocks noChangeAspect="1"/>
          </p:cNvPicPr>
          <p:nvPr/>
        </p:nvPicPr>
        <p:blipFill>
          <a:blip r:embed="rId7"/>
          <a:stretch>
            <a:fillRect/>
          </a:stretch>
        </p:blipFill>
        <p:spPr>
          <a:xfrm>
            <a:off x="8877598" y="4265112"/>
            <a:ext cx="1919342" cy="2264711"/>
          </a:xfrm>
          <a:prstGeom prst="rect">
            <a:avLst/>
          </a:prstGeom>
          <a:ln w="12700">
            <a:noFill/>
          </a:ln>
        </p:spPr>
      </p:pic>
      <p:sp>
        <p:nvSpPr>
          <p:cNvPr id="33" name="Rectangle 32">
            <a:extLst>
              <a:ext uri="{FF2B5EF4-FFF2-40B4-BE49-F238E27FC236}">
                <a16:creationId xmlns:a16="http://schemas.microsoft.com/office/drawing/2014/main" id="{F806AC62-BC3F-4D5E-BF23-F593DF51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0886" y="4181008"/>
            <a:ext cx="2670663" cy="2426299"/>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6093D801-98AE-465E-A5FC-A333D4C6A3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2820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BA65F-E555-DCFD-9552-4DF15979A2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7506E6-502C-6B33-F284-0EEE28802874}"/>
              </a:ext>
            </a:extLst>
          </p:cNvPr>
          <p:cNvSpPr>
            <a:spLocks noGrp="1"/>
          </p:cNvSpPr>
          <p:nvPr>
            <p:ph type="title"/>
          </p:nvPr>
        </p:nvSpPr>
        <p:spPr>
          <a:xfrm>
            <a:off x="1522387" y="296087"/>
            <a:ext cx="9000127" cy="1077229"/>
          </a:xfrm>
        </p:spPr>
        <p:txBody>
          <a:bodyPr>
            <a:normAutofit/>
          </a:bodyPr>
          <a:lstStyle/>
          <a:p>
            <a:pPr algn="l"/>
            <a:r>
              <a:rPr lang="en-GB">
                <a:cs typeface="Arial"/>
              </a:rPr>
              <a:t>Conclusion:</a:t>
            </a:r>
          </a:p>
        </p:txBody>
      </p:sp>
      <p:sp>
        <p:nvSpPr>
          <p:cNvPr id="3" name="Content Placeholder 2">
            <a:extLst>
              <a:ext uri="{FF2B5EF4-FFF2-40B4-BE49-F238E27FC236}">
                <a16:creationId xmlns:a16="http://schemas.microsoft.com/office/drawing/2014/main" id="{DE814FE7-1F15-9788-F04F-97A4301E31DD}"/>
              </a:ext>
            </a:extLst>
          </p:cNvPr>
          <p:cNvSpPr>
            <a:spLocks noGrp="1"/>
          </p:cNvSpPr>
          <p:nvPr>
            <p:ph idx="1"/>
          </p:nvPr>
        </p:nvSpPr>
        <p:spPr>
          <a:xfrm>
            <a:off x="1571068" y="1468710"/>
            <a:ext cx="8999071" cy="4914608"/>
          </a:xfrm>
        </p:spPr>
        <p:txBody>
          <a:bodyPr vert="horz" lIns="91440" tIns="45720" rIns="91440" bIns="45720" rtlCol="0" anchor="t">
            <a:normAutofit lnSpcReduction="10000"/>
          </a:bodyPr>
          <a:lstStyle/>
          <a:p>
            <a:pPr marL="0" indent="0">
              <a:buNone/>
            </a:pPr>
            <a:r>
              <a:rPr lang="en-GB">
                <a:cs typeface="Arial" panose="020B0604020202020204"/>
              </a:rPr>
              <a:t>M1: </a:t>
            </a:r>
          </a:p>
          <a:p>
            <a:pPr marL="0" indent="0">
              <a:buNone/>
            </a:pPr>
            <a:r>
              <a:rPr lang="en-GB" dirty="0">
                <a:cs typeface="Arial" panose="020B0604020202020204"/>
              </a:rPr>
              <a:t>M2: In </a:t>
            </a:r>
            <a:r>
              <a:rPr lang="en-GB" dirty="0" err="1">
                <a:cs typeface="Arial" panose="020B0604020202020204"/>
              </a:rPr>
              <a:t>conclution</a:t>
            </a:r>
            <a:r>
              <a:rPr lang="en-GB" dirty="0">
                <a:cs typeface="Arial" panose="020B0604020202020204"/>
              </a:rPr>
              <a:t> I did struggled with this as I know nothing about this subjects. I used AI to understand </a:t>
            </a:r>
            <a:r>
              <a:rPr lang="en-GB" dirty="0" err="1">
                <a:cs typeface="Arial" panose="020B0604020202020204"/>
              </a:rPr>
              <a:t>the </a:t>
            </a:r>
            <a:r>
              <a:rPr lang="en-GB" dirty="0">
                <a:cs typeface="Arial" panose="020B0604020202020204"/>
              </a:rPr>
              <a:t>context. Then I cross-checked this with sources from Google, then wrote comments to show that I have learned this. I found this subject and more interesting did I still struggle with this yes but I would like to learn more. </a:t>
            </a:r>
          </a:p>
          <a:p>
            <a:pPr marL="0" indent="0">
              <a:buNone/>
            </a:pPr>
            <a:r>
              <a:rPr lang="en-GB">
                <a:cs typeface="Arial" panose="020B0604020202020204"/>
              </a:rPr>
              <a:t>M3: In </a:t>
            </a:r>
            <a:r>
              <a:rPr lang="en-GB" dirty="0">
                <a:cs typeface="Arial" panose="020B0604020202020204"/>
              </a:rPr>
              <a:t>conclusion this project improved our understanding of Networks and how they communicate with the right settings showed us how to properly configure the network so that it will run smoothly yes there was problems to troubleshoot but it worked in the end.</a:t>
            </a:r>
            <a:endParaRPr lang="en-GB"/>
          </a:p>
          <a:p>
            <a:pPr marL="0" indent="0">
              <a:buNone/>
            </a:pPr>
            <a:r>
              <a:rPr lang="en-GB">
                <a:solidFill>
                  <a:srgbClr val="FFC000"/>
                </a:solidFill>
                <a:cs typeface="Arial" panose="020B0604020202020204"/>
              </a:rPr>
              <a:t>M4:</a:t>
            </a:r>
            <a:r>
              <a:rPr lang="en-GB">
                <a:cs typeface="Arial" panose="020B0604020202020204"/>
              </a:rPr>
              <a:t> So overall for cyber security awareness individuals would need to make very long and secure protocols to keep their hardware safe from threats</a:t>
            </a:r>
          </a:p>
        </p:txBody>
      </p:sp>
    </p:spTree>
    <p:extLst>
      <p:ext uri="{BB962C8B-B14F-4D97-AF65-F5344CB8AC3E}">
        <p14:creationId xmlns:p14="http://schemas.microsoft.com/office/powerpoint/2010/main" val="1151841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1AF5FBB-9FDC-4D75-9DD6-DAF01ED197A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26" name="Picture 25">
            <a:extLst>
              <a:ext uri="{FF2B5EF4-FFF2-40B4-BE49-F238E27FC236}">
                <a16:creationId xmlns:a16="http://schemas.microsoft.com/office/drawing/2014/main" id="{933BBBE6-F4CF-483E-BA74-B51421B4D9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8" name="Rectangle 27">
            <a:extLst>
              <a:ext uri="{FF2B5EF4-FFF2-40B4-BE49-F238E27FC236}">
                <a16:creationId xmlns:a16="http://schemas.microsoft.com/office/drawing/2014/main" id="{4C790028-99AE-4AE4-8269-9913E2D50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0" name="Rectangle 29">
            <a:extLst>
              <a:ext uri="{FF2B5EF4-FFF2-40B4-BE49-F238E27FC236}">
                <a16:creationId xmlns:a16="http://schemas.microsoft.com/office/drawing/2014/main" id="{06936A2A-FE08-4EE0-A409-3EF3FA244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2" name="Rectangle 31">
            <a:extLst>
              <a:ext uri="{FF2B5EF4-FFF2-40B4-BE49-F238E27FC236}">
                <a16:creationId xmlns:a16="http://schemas.microsoft.com/office/drawing/2014/main" id="{BAF0407B-48CB-4C05-B0D7-7A69A0D40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4" name="Rectangle 33">
            <a:extLst>
              <a:ext uri="{FF2B5EF4-FFF2-40B4-BE49-F238E27FC236}">
                <a16:creationId xmlns:a16="http://schemas.microsoft.com/office/drawing/2014/main" id="{ADC50C3D-0DA0-4914-B5B4-D1819CC69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6" name="TextBox 35">
            <a:extLst>
              <a:ext uri="{FF2B5EF4-FFF2-40B4-BE49-F238E27FC236}">
                <a16:creationId xmlns:a16="http://schemas.microsoft.com/office/drawing/2014/main" id="{8CF9E583-1A92-4144-B4FA-81D98317FA04}"/>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282" y="3262852"/>
            <a:ext cx="415636" cy="461665"/>
          </a:xfrm>
          <a:prstGeom prst="rect">
            <a:avLst/>
          </a:prstGeom>
          <a:noFill/>
        </p:spPr>
        <p:txBody>
          <a:bodyPr wrap="square" rtlCol="0">
            <a:spAutoFit/>
          </a:bodyPr>
          <a:lstStyle/>
          <a:p>
            <a:pPr algn="r">
              <a:spcAft>
                <a:spcPts val="600"/>
              </a:spcAft>
            </a:pPr>
            <a:r>
              <a:rPr lang="en-US" sz="2400">
                <a:solidFill>
                  <a:schemeClr val="accent6"/>
                </a:solidFill>
                <a:latin typeface="Wingdings 3" panose="05040102010807070707" pitchFamily="18" charset="2"/>
              </a:rPr>
              <a:t>z</a:t>
            </a:r>
            <a:endParaRPr lang="en-US" sz="2400">
              <a:solidFill>
                <a:schemeClr val="accent6"/>
              </a:solidFill>
              <a:latin typeface="MS Shell Dlg 2" panose="020B0604030504040204" pitchFamily="34" charset="0"/>
            </a:endParaRPr>
          </a:p>
        </p:txBody>
      </p:sp>
      <p:sp useBgFill="1">
        <p:nvSpPr>
          <p:cNvPr id="37" name="Rectangle 36">
            <a:extLst>
              <a:ext uri="{FF2B5EF4-FFF2-40B4-BE49-F238E27FC236}">
                <a16:creationId xmlns:a16="http://schemas.microsoft.com/office/drawing/2014/main" id="{55980737-1E33-40A8-819D-C20C41E4F7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6ABBD51A-FA48-44B8-B184-A40D7F134F1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27" name="Picture 26">
            <a:extLst>
              <a:ext uri="{FF2B5EF4-FFF2-40B4-BE49-F238E27FC236}">
                <a16:creationId xmlns:a16="http://schemas.microsoft.com/office/drawing/2014/main" id="{510188A9-F0D9-4FE9-85DC-2179145278C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9" name="Rectangle 28">
            <a:extLst>
              <a:ext uri="{FF2B5EF4-FFF2-40B4-BE49-F238E27FC236}">
                <a16:creationId xmlns:a16="http://schemas.microsoft.com/office/drawing/2014/main" id="{32927575-BD84-44B6-BE49-E0C7EDD0E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3FDF09A-B960-49F4-BAEB-DA397BDCD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91BE6C0-4118-460B-90C2-160041247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C06C89-FF9B-F8F7-6132-F6886F73A401}"/>
              </a:ext>
            </a:extLst>
          </p:cNvPr>
          <p:cNvSpPr>
            <a:spLocks noGrp="1"/>
          </p:cNvSpPr>
          <p:nvPr>
            <p:ph type="title"/>
          </p:nvPr>
        </p:nvSpPr>
        <p:spPr>
          <a:xfrm>
            <a:off x="1494934" y="1441172"/>
            <a:ext cx="2668479" cy="2268559"/>
          </a:xfrm>
        </p:spPr>
        <p:txBody>
          <a:bodyPr vert="horz" lIns="91440" tIns="45720" rIns="91440" bIns="45720" rtlCol="0">
            <a:normAutofit/>
          </a:bodyPr>
          <a:lstStyle/>
          <a:p>
            <a:r>
              <a:rPr lang="en-US" sz="3200"/>
              <a:t>Live Demo</a:t>
            </a:r>
          </a:p>
        </p:txBody>
      </p:sp>
      <p:pic>
        <p:nvPicPr>
          <p:cNvPr id="4" name="Online Media 3" title="demo reel UGM">
            <a:hlinkClick r:id="" action="ppaction://noaction"/>
            <a:extLst>
              <a:ext uri="{FF2B5EF4-FFF2-40B4-BE49-F238E27FC236}">
                <a16:creationId xmlns:a16="http://schemas.microsoft.com/office/drawing/2014/main" id="{B46FE99F-16E9-B0E1-E043-20CD70D699BA}"/>
              </a:ext>
            </a:extLst>
          </p:cNvPr>
          <p:cNvPicPr>
            <a:picLocks noGrp="1" noRot="1" noChangeAspect="1"/>
          </p:cNvPicPr>
          <p:nvPr>
            <p:ph idx="1"/>
            <a:videoFile r:link="rId1"/>
          </p:nvPr>
        </p:nvPicPr>
        <p:blipFill>
          <a:blip r:embed="rId6"/>
          <a:stretch>
            <a:fillRect/>
          </a:stretch>
        </p:blipFill>
        <p:spPr>
          <a:xfrm>
            <a:off x="5444747" y="1442837"/>
            <a:ext cx="5297322" cy="3972991"/>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35" name="Rectangle 34">
            <a:extLst>
              <a:ext uri="{FF2B5EF4-FFF2-40B4-BE49-F238E27FC236}">
                <a16:creationId xmlns:a16="http://schemas.microsoft.com/office/drawing/2014/main" id="{15B5C763-A6E8-4D31-B139-30D083B824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062684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office theme</Template>
  <TotalTime>0</TotalTime>
  <Words>959</Words>
  <Application>Microsoft Office PowerPoint</Application>
  <PresentationFormat>Widescreen</PresentationFormat>
  <Paragraphs>65</Paragraphs>
  <Slides>20</Slides>
  <Notes>0</Notes>
  <HiddenSlides>0</HiddenSlides>
  <MMClips>2</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Consolas</vt:lpstr>
      <vt:lpstr>MS Shell Dlg 2</vt:lpstr>
      <vt:lpstr>Wingdings</vt:lpstr>
      <vt:lpstr>Wingdings 3</vt:lpstr>
      <vt:lpstr>Madison</vt:lpstr>
      <vt:lpstr>Team Name: 4 Brains 1 Cell</vt:lpstr>
      <vt:lpstr>What will be mentioned in this presentation:</vt:lpstr>
      <vt:lpstr>Mini Project 1: Northwest Architecture Studio Ltd.</vt:lpstr>
      <vt:lpstr>Mini Project 1: Northwest Architecture Studio Ltd.</vt:lpstr>
      <vt:lpstr>PENNINE PIZZA WORKS</vt:lpstr>
      <vt:lpstr>Mini Project 2: Pennine Pizza Works</vt:lpstr>
      <vt:lpstr>PowerPoint Presentation</vt:lpstr>
      <vt:lpstr>PowerPoint Presentation</vt:lpstr>
      <vt:lpstr>PowerPoint Presentation</vt:lpstr>
      <vt:lpstr>PowerPoint Presentation</vt:lpstr>
      <vt:lpstr>Mini Project 3:  NorthWest Architecture Studio  Network  </vt:lpstr>
      <vt:lpstr>The Brief: Northwest architecture Studios  has asked to model a working LAN and a connection to a external cloud/ISP</vt:lpstr>
      <vt:lpstr>Tested that it can run on local intranet</vt:lpstr>
      <vt:lpstr>Made sure the computer can connect to the office server and  display a page from the intranet</vt:lpstr>
      <vt:lpstr>Configured the devices so that they can communicate with the ISP</vt:lpstr>
      <vt:lpstr>Mini Project 4: Cyber-Security Awareness</vt:lpstr>
      <vt:lpstr>Mini Project 4: Cyber-Security Awareness  </vt:lpstr>
      <vt:lpstr>PowerPoint Presentation</vt:lpstr>
      <vt:lpstr>Conclusion:</vt:lpstr>
      <vt:lpstr>Live Demo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Wood, Rebecca</cp:lastModifiedBy>
  <cp:revision>72</cp:revision>
  <dcterms:created xsi:type="dcterms:W3CDTF">2026-10-16T14:17:40Z</dcterms:created>
  <dcterms:modified xsi:type="dcterms:W3CDTF">2026-10-23T23:01:40Z</dcterms:modified>
</cp:coreProperties>
</file>